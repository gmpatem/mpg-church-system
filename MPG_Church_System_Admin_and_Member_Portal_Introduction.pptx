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6adfabb08749fd" /><Relationship Type="http://schemas.openxmlformats.org/officeDocument/2006/relationships/extended-properties" Target="/docProps/app.xml" Id="R01daee9f07e0489a" /><Relationship Type="http://schemas.openxmlformats.org/officeDocument/2006/relationships/officeDocument" Target="/ppt/presentation.xml" Id="R50987f935b9844d1" /></Relationships>
</file>

<file path=ppt/presentation.xml><?xml version="1.0" encoding="utf-8"?>
<p:presentation xmlns:p="http://schemas.openxmlformats.org/presentationml/2006/main">
  <p:sldMasterIdLst>
    <p:sldMasterId xmlns:r="http://schemas.openxmlformats.org/officeDocument/2006/relationships" id="2147483648" r:id="Rea89d71e390f431f"/>
  </p:sldMasterIdLst>
  <p:notesMasterIdLst>
    <p:notesMasterId xmlns:r="http://schemas.openxmlformats.org/officeDocument/2006/relationships" r:id="R1b85cd2ce67341db"/>
  </p:notesMasterIdLst>
  <p:sldIdLst>
    <p:sldId xmlns:r="http://schemas.openxmlformats.org/officeDocument/2006/relationships" id="256" r:id="R15c18849b1414271"/>
    <p:sldId xmlns:r="http://schemas.openxmlformats.org/officeDocument/2006/relationships" id="257" r:id="R893b211f7c434c96"/>
    <p:sldId xmlns:r="http://schemas.openxmlformats.org/officeDocument/2006/relationships" id="258" r:id="R5273ad0135924eff"/>
    <p:sldId xmlns:r="http://schemas.openxmlformats.org/officeDocument/2006/relationships" id="259" r:id="R3cf63566e092463f"/>
    <p:sldId xmlns:r="http://schemas.openxmlformats.org/officeDocument/2006/relationships" id="260" r:id="R0c841ef265f945cb"/>
    <p:sldId xmlns:r="http://schemas.openxmlformats.org/officeDocument/2006/relationships" id="261" r:id="Ra2a624879ffc4fc8"/>
    <p:sldId xmlns:r="http://schemas.openxmlformats.org/officeDocument/2006/relationships" id="262" r:id="R399e9e43d3044375"/>
    <p:sldId xmlns:r="http://schemas.openxmlformats.org/officeDocument/2006/relationships" id="263" r:id="R28a9661b936c4d8b"/>
    <p:sldId xmlns:r="http://schemas.openxmlformats.org/officeDocument/2006/relationships" id="264" r:id="R79e1a66b0252456d"/>
    <p:sldId xmlns:r="http://schemas.openxmlformats.org/officeDocument/2006/relationships" id="265" r:id="Rb5f8b31e4644472c"/>
    <p:sldId xmlns:r="http://schemas.openxmlformats.org/officeDocument/2006/relationships" id="266" r:id="R2b3cfb7a8fa647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07546cbbfc4429" /><Relationship Type="http://schemas.openxmlformats.org/officeDocument/2006/relationships/slideMaster" Target="/ppt/slideMasters/slideMaster1.xml" Id="Rea89d71e390f431f" /><Relationship Type="http://schemas.openxmlformats.org/officeDocument/2006/relationships/notesMaster" Target="/ppt/notesMasters/notesMaster1.xml" Id="R1b85cd2ce67341db" /><Relationship Type="http://schemas.openxmlformats.org/officeDocument/2006/relationships/presProps" Target="/ppt/presProps.xml" Id="R091d206c67c24c80" /><Relationship Type="http://schemas.openxmlformats.org/officeDocument/2006/relationships/tableStyles" Target="/ppt/tableStyles.xml" Id="R0507a61fc4964916" /><Relationship Type="http://schemas.openxmlformats.org/officeDocument/2006/relationships/slide" Target="/ppt/slides/slide1.xml" Id="R15c18849b1414271" /><Relationship Type="http://schemas.openxmlformats.org/officeDocument/2006/relationships/slide" Target="/ppt/slides/slide2.xml" Id="R893b211f7c434c96" /><Relationship Type="http://schemas.openxmlformats.org/officeDocument/2006/relationships/slide" Target="/ppt/slides/slide3.xml" Id="R5273ad0135924eff" /><Relationship Type="http://schemas.openxmlformats.org/officeDocument/2006/relationships/slide" Target="/ppt/slides/slide4.xml" Id="R3cf63566e092463f" /><Relationship Type="http://schemas.openxmlformats.org/officeDocument/2006/relationships/slide" Target="/ppt/slides/slide5.xml" Id="R0c841ef265f945cb" /><Relationship Type="http://schemas.openxmlformats.org/officeDocument/2006/relationships/slide" Target="/ppt/slides/slide6.xml" Id="Ra2a624879ffc4fc8" /><Relationship Type="http://schemas.openxmlformats.org/officeDocument/2006/relationships/slide" Target="/ppt/slides/slide7.xml" Id="R399e9e43d3044375" /><Relationship Type="http://schemas.openxmlformats.org/officeDocument/2006/relationships/slide" Target="/ppt/slides/slide8.xml" Id="R28a9661b936c4d8b" /><Relationship Type="http://schemas.openxmlformats.org/officeDocument/2006/relationships/slide" Target="/ppt/slides/slide9.xml" Id="R79e1a66b0252456d" /><Relationship Type="http://schemas.openxmlformats.org/officeDocument/2006/relationships/slide" Target="/ppt/slides/slide10.xml" Id="Rb5f8b31e4644472c" /><Relationship Type="http://schemas.openxmlformats.org/officeDocument/2006/relationships/slide" Target="/ppt/slides/slide11.xml" Id="R2b3cfb7a8fa647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eba3b7b74745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6e3b3b34804cde" /><Relationship Type="http://schemas.openxmlformats.org/officeDocument/2006/relationships/notesMaster" Target="/ppt/notesMasters/notesMaster1.xml" Id="Rcbedb1c833474b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466cc650204d0a" /><Relationship Type="http://schemas.openxmlformats.org/officeDocument/2006/relationships/notesMaster" Target="/ppt/notesMasters/notesMaster1.xml" Id="R5612299a38f742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c0667e4d11435e" /><Relationship Type="http://schemas.openxmlformats.org/officeDocument/2006/relationships/notesMaster" Target="/ppt/notesMasters/notesMaster1.xml" Id="Rf2c88e07681247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29fd8d5ed14c40" /><Relationship Type="http://schemas.openxmlformats.org/officeDocument/2006/relationships/notesMaster" Target="/ppt/notesMasters/notesMaster1.xml" Id="R9e56ee5ef00b49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2988c62ec94c76" /><Relationship Type="http://schemas.openxmlformats.org/officeDocument/2006/relationships/notesMaster" Target="/ppt/notesMasters/notesMaster1.xml" Id="Rc7aa4564871247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11a14e6fb6416c" /><Relationship Type="http://schemas.openxmlformats.org/officeDocument/2006/relationships/notesMaster" Target="/ppt/notesMasters/notesMaster1.xml" Id="R6004cea1954043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cf6194d104507" /><Relationship Type="http://schemas.openxmlformats.org/officeDocument/2006/relationships/notesMaster" Target="/ppt/notesMasters/notesMaster1.xml" Id="R5be252f194e544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ed80633dc8401a" /><Relationship Type="http://schemas.openxmlformats.org/officeDocument/2006/relationships/notesMaster" Target="/ppt/notesMasters/notesMaster1.xml" Id="Rca64bd091a594f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6b1a9a91f34373" /><Relationship Type="http://schemas.openxmlformats.org/officeDocument/2006/relationships/notesMaster" Target="/ppt/notesMasters/notesMaster1.xml" Id="R7c425d923aad4f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84c9c8f3ea4f49" /><Relationship Type="http://schemas.openxmlformats.org/officeDocument/2006/relationships/notesMaster" Target="/ppt/notesMasters/notesMaster1.xml" Id="R6a56f4d02a014c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49cf672eee45fe" /><Relationship Type="http://schemas.openxmlformats.org/officeDocument/2006/relationships/notesMaster" Target="/ppt/notesMasters/notesMaster1.xml" Id="R6363b11b24d6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Welcome the audience and set the scope.</a:t>
            </a:r>
          </a:p>
          <a:p xmlns:a="http://schemas.openxmlformats.org/drawingml/2006/main">
            <a:r>
              <a:t>Presenter cue: Explain that this is a Development Preview and a short guided tour—not a production-readiness claim.</a:t>
            </a:r>
          </a:p>
          <a:p xmlns:a="http://schemas.openxmlformats.org/drawingml/2006/main">
            <a:r>
              <a:t>Click path: None.</a:t>
            </a:r>
          </a:p>
          <a:p xmlns:a="http://schemas.openxmlformats.org/drawingml/2006/main">
            <a:r>
              <a:t>Screenshot pointer: The phone image is a sanitized mobile administration view.</a:t>
            </a:r>
          </a:p>
          <a:p xmlns:a="http://schemas.openxmlformats.org/drawingml/2006/main">
            <a:r>
              <a:t>Animation: Native Fade transition on slide advance.</a:t>
            </a:r>
          </a:p>
          <a:p xmlns:a="http://schemas.openxmlformats.org/drawingml/2006/main">
            <a:r>
              <a:t>Limitation: Conference, public registration, installation, and technical setup are not part of this presentation.</a:t>
            </a:r>
          </a:p>
          <a:p xmlns:a="http://schemas.openxmlformats.org/drawingml/2006/main">
            <a:r>
              <a:t/>
            </a:r>
          </a:p>
          <a:p xmlns:a="http://schemas.openxmlformats.org/drawingml/2006/main">
            <a:r>
              <a:t>[Sources]</a:t>
            </a:r>
          </a:p>
          <a:p xmlns:a="http://schemas.openxmlformats.org/drawingml/2006/main">
            <a:r>
              <a:t>- E:/mpg-church-system/public/icons/icon-512.png</a:t>
            </a:r>
          </a:p>
          <a:p xmlns:a="http://schemas.openxmlformats.org/drawingml/2006/main">
            <a:r>
              <a:t>- E:/mpg-church-system/artifacts/ministry-workspace/admin-390.png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Distinguish the two experiences before teaching either one.</a:t>
            </a:r>
          </a:p>
          <a:p xmlns:a="http://schemas.openxmlformats.org/drawingml/2006/main">
            <a:r>
              <a:t>Presenter cue: Administration is operational; the Member Portal is personal and simpler. Both use the current church context.</a:t>
            </a:r>
          </a:p>
          <a:p xmlns:a="http://schemas.openxmlformats.org/drawingml/2006/main">
            <a:r>
              <a:t>Click path: Administration routes begin under /c/[churchSlug]; member routes begin under /my/[churchSlug].</a:t>
            </a:r>
          </a:p>
          <a:p xmlns:a="http://schemas.openxmlformats.org/drawingml/2006/main">
            <a:r>
              <a:t>Animation: Native Fade transition. Pause on the left, then compare with the right.</a:t>
            </a:r>
          </a:p>
          <a:p xmlns:a="http://schemas.openxmlformats.org/drawingml/2006/main">
            <a:r>
              <a:t>Limitation: The exact items visible depend on assigned role and available preview data.</a:t>
            </a:r>
          </a:p>
          <a:p xmlns:a="http://schemas.openxmlformats.org/drawingml/2006/main">
            <a:r>
              <a:t/>
            </a:r>
          </a:p>
          <a:p xmlns:a="http://schemas.openxmlformats.org/drawingml/2006/main">
            <a:r>
              <a:t>[Sources]</a:t>
            </a:r>
          </a:p>
          <a:p xmlns:a="http://schemas.openxmlformats.org/drawingml/2006/main">
            <a:r>
              <a:t>- E:/mpg-church-system/src/components/church-workspace/shell/navigation.ts</a:t>
            </a:r>
          </a:p>
          <a:p xmlns:a="http://schemas.openxmlformats.org/drawingml/2006/main">
            <a:r>
              <a:t>- E:/mpg-church-system/src/app/(member)/my/[churchSlug]/components/MemberPortalShell.tsx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role-based visibility without teaching technical permissions.</a:t>
            </a:r>
          </a:p>
          <a:p xmlns:a="http://schemas.openxmlformats.org/drawingml/2006/main">
            <a:r>
              <a:t>Presenter cue: Move left to right: personal access becomes more operational as responsibility increases. Mention that roles are examples, not a promise that every installation uses identical assignments.</a:t>
            </a:r>
          </a:p>
          <a:p xmlns:a="http://schemas.openxmlformats.org/drawingml/2006/main">
            <a:r>
              <a:t>Click path: Church workspace → Invites &amp; Access for authorized users.</a:t>
            </a:r>
          </a:p>
          <a:p xmlns:a="http://schemas.openxmlformats.org/drawingml/2006/main">
            <a:r>
              <a:t>Animation: Native Fade transition; reveal the role spectrum verbally from left to right.</a:t>
            </a:r>
          </a:p>
          <a:p xmlns:a="http://schemas.openxmlformats.org/drawingml/2006/main">
            <a:r>
              <a:t>Limitation: A role label does not automatically guarantee every module; access remains responsibility-based.</a:t>
            </a:r>
          </a:p>
          <a:p xmlns:a="http://schemas.openxmlformats.org/drawingml/2006/main">
            <a:r>
              <a:t/>
            </a:r>
          </a:p>
          <a:p xmlns:a="http://schemas.openxmlformats.org/drawingml/2006/main">
            <a:r>
              <a:t>[Sources]</a:t>
            </a:r>
          </a:p>
          <a:p xmlns:a="http://schemas.openxmlformats.org/drawingml/2006/main">
            <a:r>
              <a:t>- E:/mpg-church-system/src/components/church-workspace/shell/navigation.ts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Give administrators a map before demonstrating tasks.</a:t>
            </a:r>
          </a:p>
          <a:p xmlns:a="http://schemas.openxmlformats.org/drawingml/2006/main">
            <a:r>
              <a:t>Presenter cue: Point to 1) the left navigation, 2) tabs and actions inside the active workspace, and 3) live status and totals.</a:t>
            </a:r>
          </a:p>
          <a:p xmlns:a="http://schemas.openxmlformats.org/drawingml/2006/main">
            <a:r>
              <a:t>Click path: Sign in → select the appropriate church workspace → Dashboard or a navigation item.</a:t>
            </a:r>
          </a:p>
          <a:p xmlns:a="http://schemas.openxmlformats.org/drawingml/2006/main">
            <a:r>
              <a:t>Screenshot pointer: The screenshot is sanitized and shows the Departments overview in an administrator session.</a:t>
            </a:r>
          </a:p>
          <a:p xmlns:a="http://schemas.openxmlformats.org/drawingml/2006/main">
            <a:r>
              <a:t>Animation: Native Fade transition; introduce callouts in numeric order.</a:t>
            </a:r>
          </a:p>
          <a:p xmlns:a="http://schemas.openxmlformats.org/drawingml/2006/main">
            <a:r>
              <a:t>Limitation: Counts and visible actions vary with church data and account access.</a:t>
            </a:r>
          </a:p>
          <a:p xmlns:a="http://schemas.openxmlformats.org/drawingml/2006/main">
            <a:r>
              <a:t/>
            </a:r>
          </a:p>
          <a:p xmlns:a="http://schemas.openxmlformats.org/drawingml/2006/main">
            <a:r>
              <a:t>[Sources]</a:t>
            </a:r>
          </a:p>
          <a:p xmlns:a="http://schemas.openxmlformats.org/drawingml/2006/main">
            <a:r>
              <a:t>- E:/mpg-church-system/artifacts/ministry-workspace/admin-1440.png</a:t>
            </a:r>
          </a:p>
          <a:p xmlns:a="http://schemas.openxmlformats.org/drawingml/2006/main">
            <a:r>
              <a:t>- E:/mpg-church-system/src/components/church-workspace/shell/navigation.ts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Teach a safe first workflow without overpromising record-edit behavior.</a:t>
            </a:r>
          </a:p>
          <a:p xmlns:a="http://schemas.openxmlformats.org/drawingml/2006/main">
            <a:r>
              <a:t>Presenter cue: Emphasize search first, then open and review the right person before proceeding. Household context is separate from the individual record.</a:t>
            </a:r>
          </a:p>
          <a:p xmlns:a="http://schemas.openxmlformats.org/drawingml/2006/main">
            <a:r>
              <a:t>Click path: People → Members → search/filter → select a member; People → Households for family context.</a:t>
            </a:r>
          </a:p>
          <a:p xmlns:a="http://schemas.openxmlformats.org/drawingml/2006/main">
            <a:r>
              <a:t>Animation: Native Fade transition; teach the four steps left to right.</a:t>
            </a:r>
          </a:p>
          <a:p xmlns:a="http://schemas.openxmlformats.org/drawingml/2006/main">
            <a:r>
              <a:t>Limitation: Available actions and fields depend on role, status, and current preview behavior.</a:t>
            </a:r>
          </a:p>
          <a:p xmlns:a="http://schemas.openxmlformats.org/drawingml/2006/main">
            <a:r>
              <a:t/>
            </a:r>
          </a:p>
          <a:p xmlns:a="http://schemas.openxmlformats.org/drawingml/2006/main">
            <a:r>
              <a:t>[Sources]</a:t>
            </a:r>
          </a:p>
          <a:p xmlns:a="http://schemas.openxmlformats.org/drawingml/2006/main">
            <a:r>
              <a:t>- E:/mpg-church-system/src/app/(church)/c/[churchSlug]/members/page.tsx</a:t>
            </a:r>
          </a:p>
          <a:p xmlns:a="http://schemas.openxmlformats.org/drawingml/2006/main">
            <a:r>
              <a:t>- E:/mpg-church-system/src/components/church-workspace/shell/navigation.ts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how one ministry workspace supports coordinated work.</a:t>
            </a:r>
          </a:p>
          <a:p xmlns:a="http://schemas.openxmlformats.org/drawingml/2006/main">
            <a:r>
              <a:t>Presenter cue: Open Departments, choose the right ministry, then move across the relevant tabs. Keep activities and people attached to their ministry context.</a:t>
            </a:r>
          </a:p>
          <a:p xmlns:a="http://schemas.openxmlformats.org/drawingml/2006/main">
            <a:r>
              <a:t>Click path: Ministries → Departments → select a department → choose Overview, Action Plan, Activities, People, or Budget.</a:t>
            </a:r>
          </a:p>
          <a:p xmlns:a="http://schemas.openxmlformats.org/drawingml/2006/main">
            <a:r>
              <a:t>Screenshot pointer: The image is a sanitized real preview of the Departments workspace.</a:t>
            </a:r>
          </a:p>
          <a:p xmlns:a="http://schemas.openxmlformats.org/drawingml/2006/main">
            <a:r>
              <a:t>Animation: Native Fade transition; introduce the three screenshot pointers in order.</a:t>
            </a:r>
          </a:p>
          <a:p xmlns:a="http://schemas.openxmlformats.org/drawingml/2006/main">
            <a:r>
              <a:t>Limitation: Documents are intentionally not taught because a complete upload workflow is not verified in this preview.</a:t>
            </a:r>
          </a:p>
          <a:p xmlns:a="http://schemas.openxmlformats.org/drawingml/2006/main">
            <a:r>
              <a:t/>
            </a:r>
          </a:p>
          <a:p xmlns:a="http://schemas.openxmlformats.org/drawingml/2006/main">
            <a:r>
              <a:t>[Sources]</a:t>
            </a:r>
          </a:p>
          <a:p xmlns:a="http://schemas.openxmlformats.org/drawingml/2006/main">
            <a:r>
              <a:t>- E:/mpg-church-system/artifacts/ministry-workspace/admin-1366.png</a:t>
            </a:r>
          </a:p>
          <a:p xmlns:a="http://schemas.openxmlformats.org/drawingml/2006/main">
            <a:r>
              <a:t>- E:/mpg-church-system/src/app/(church)/c/[churchSlug]/departments/components/DepartmentsTabBar.tsx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Group advanced administrator modules by responsibility so the navigation feels manageable.</a:t>
            </a:r>
          </a:p>
          <a:p xmlns:a="http://schemas.openxmlformats.org/drawingml/2006/main">
            <a:r>
              <a:t>Presenter cue: Governance handles records and approval work; stewardship covers treasury and reports; access and settings manage entry and configuration.</a:t>
            </a:r>
          </a:p>
          <a:p xmlns:a="http://schemas.openxmlformats.org/drawingml/2006/main">
            <a:r>
              <a:t>Click path: Use the left navigation to open Church Office, Approvals, Treasury, Reports, Invites &amp; Access, or Settings.</a:t>
            </a:r>
          </a:p>
          <a:p xmlns:a="http://schemas.openxmlformats.org/drawingml/2006/main">
            <a:r>
              <a:t>Animation: Native Fade transition; present the three lanes from left to right.</a:t>
            </a:r>
          </a:p>
          <a:p xmlns:a="http://schemas.openxmlformats.org/drawingml/2006/main">
            <a:r>
              <a:t>Limitation: Some lanes are hidden unless the signed-in user has the appropriate role.</a:t>
            </a:r>
          </a:p>
          <a:p xmlns:a="http://schemas.openxmlformats.org/drawingml/2006/main">
            <a:r>
              <a:t/>
            </a:r>
          </a:p>
          <a:p xmlns:a="http://schemas.openxmlformats.org/drawingml/2006/main">
            <a:r>
              <a:t>[Sources]</a:t>
            </a:r>
          </a:p>
          <a:p xmlns:a="http://schemas.openxmlformats.org/drawingml/2006/main">
            <a:r>
              <a:t>- E:/mpg-church-system/src/components/church-workspace/shell/navigation.ts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Teach the basic access-assignment sequence and a safe operating principle.</a:t>
            </a:r>
          </a:p>
          <a:p xmlns:a="http://schemas.openxmlformats.org/drawingml/2006/main">
            <a:r>
              <a:t>Presenter cue: Confirm the person, choose only the role needed, and review before saving. Never share one administrator account across a team.</a:t>
            </a:r>
          </a:p>
          <a:p xmlns:a="http://schemas.openxmlformats.org/drawingml/2006/main">
            <a:r>
              <a:t>Click path: Administration → Invites &amp; Access → person/invite → role or access → review/save.</a:t>
            </a:r>
          </a:p>
          <a:p xmlns:a="http://schemas.openxmlformats.org/drawingml/2006/main">
            <a:r>
              <a:t>Animation: Native Fade transition; teach steps top to bottom.</a:t>
            </a:r>
          </a:p>
          <a:p xmlns:a="http://schemas.openxmlformats.org/drawingml/2006/main">
            <a:r>
              <a:t>Limitation: Exact controls and selectable roles depend on the signed-in user’s authority.</a:t>
            </a:r>
          </a:p>
          <a:p xmlns:a="http://schemas.openxmlformats.org/drawingml/2006/main">
            <a:r>
              <a:t/>
            </a:r>
          </a:p>
          <a:p xmlns:a="http://schemas.openxmlformats.org/drawingml/2006/main">
            <a:r>
              <a:t>[Sources]</a:t>
            </a:r>
          </a:p>
          <a:p xmlns:a="http://schemas.openxmlformats.org/drawingml/2006/main">
            <a:r>
              <a:t>- E:/mpg-church-system/src/components/church-workspace/shell/navigation.ts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Orient members to the personal portal and its first-sign-in safeguard.</a:t>
            </a:r>
          </a:p>
          <a:p xmlns:a="http://schemas.openxmlformats.org/drawingml/2006/main">
            <a:r>
              <a:t>Presenter cue: The portal has five main areas. On first sign-in, the member may need to confirm a password before reaching Home.</a:t>
            </a:r>
          </a:p>
          <a:p xmlns:a="http://schemas.openxmlformats.org/drawingml/2006/main">
            <a:r>
              <a:t>Click path: Sign in → select/open Member Portal → complete first-login password confirmation if shown.</a:t>
            </a:r>
          </a:p>
          <a:p xmlns:a="http://schemas.openxmlformats.org/drawingml/2006/main">
            <a:r>
              <a:t>Screenshot pointer: The image is a sanitized real preview of the first-login gate.</a:t>
            </a:r>
          </a:p>
          <a:p xmlns:a="http://schemas.openxmlformats.org/drawingml/2006/main">
            <a:r>
              <a:t>Animation: Native Fade transition; name the five areas, then point to the secure-entry screen.</a:t>
            </a:r>
          </a:p>
          <a:p xmlns:a="http://schemas.openxmlformats.org/drawingml/2006/main">
            <a:r>
              <a:t>Limitation: Portal content depends on published events and recorded church data.</a:t>
            </a:r>
          </a:p>
          <a:p xmlns:a="http://schemas.openxmlformats.org/drawingml/2006/main">
            <a:r>
              <a:t/>
            </a:r>
          </a:p>
          <a:p xmlns:a="http://schemas.openxmlformats.org/drawingml/2006/main">
            <a:r>
              <a:t>[Sources]</a:t>
            </a:r>
          </a:p>
          <a:p xmlns:a="http://schemas.openxmlformats.org/drawingml/2006/main">
            <a:r>
              <a:t>- E:/mpg-church-system/artifacts/ministry-workspace/leader-scope-1440.png</a:t>
            </a:r>
          </a:p>
          <a:p xmlns:a="http://schemas.openxmlformats.org/drawingml/2006/main">
            <a:r>
              <a:t>- E:/mpg-church-system/src/app/(member)/my/[churchSlug]/components/MemberPortalShell.tsx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Give members a repeatable first-use path.</a:t>
            </a:r>
          </a:p>
          <a:p xmlns:a="http://schemas.openxmlformats.org/drawingml/2006/main">
            <a:r>
              <a:t>Presenter cue: Start with Home because it summarizes what is next and provides quick links. Choose Ministries for team context, Events for published events, Giving for recorded contributions, and Profile to review personal details.</a:t>
            </a:r>
          </a:p>
          <a:p xmlns:a="http://schemas.openxmlformats.org/drawingml/2006/main">
            <a:r>
              <a:t>Click path: Sign in → Member Portal → Home → Ministries / Events / Giving / Profile.</a:t>
            </a:r>
          </a:p>
          <a:p xmlns:a="http://schemas.openxmlformats.org/drawingml/2006/main">
            <a:r>
              <a:t>Animation: Native Fade transition; count through the five steps.</a:t>
            </a:r>
          </a:p>
          <a:p xmlns:a="http://schemas.openxmlformats.org/drawingml/2006/main">
            <a:r>
              <a:t>Limitation: The deck does not promise direct editing of every profile field. If information is incorrect, follow the church’s normal support process.</a:t>
            </a:r>
          </a:p>
          <a:p xmlns:a="http://schemas.openxmlformats.org/drawingml/2006/main">
            <a:r>
              <a:t/>
            </a:r>
          </a:p>
          <a:p xmlns:a="http://schemas.openxmlformats.org/drawingml/2006/main">
            <a:r>
              <a:t>[Sources]</a:t>
            </a:r>
          </a:p>
          <a:p xmlns:a="http://schemas.openxmlformats.org/drawingml/2006/main">
            <a:r>
              <a:t>- E:/mpg-church-system/src/features/member-portal/components/MemberPortalHomeModule.tsx</a:t>
            </a:r>
          </a:p>
          <a:p xmlns:a="http://schemas.openxmlformats.org/drawingml/2006/main">
            <a:r>
              <a:t>- E:/mpg-church-system/src/features/member-portal/components/MemberPortalEventsModule.tsx</a:t>
            </a:r>
          </a:p>
          <a:p xmlns:a="http://schemas.openxmlformats.org/drawingml/2006/main">
            <a:r>
              <a:t>- E:/mpg-church-system/src/features/member-portal/components/MemberPortalGivingModule.tsx</a:t>
            </a:r>
          </a:p>
          <a:p xmlns:a="http://schemas.openxmlformats.org/drawingml/2006/main">
            <a:r>
              <a:t>- E:/mpg-church-system/src/features/member-portal/components/MemberPortalProfileModule.tsx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Close with a clear division of responsibility and a practical next action.</a:t>
            </a:r>
          </a:p>
          <a:p xmlns:a="http://schemas.openxmlformats.org/drawingml/2006/main">
            <a:r>
              <a:t>Presenter cue: Church workers operate the shared system; members use the personal portal. Invite the audience into a live, supervised demonstration using fictional or approved training data.</a:t>
            </a:r>
          </a:p>
          <a:p xmlns:a="http://schemas.openxmlformats.org/drawingml/2006/main">
            <a:r>
              <a:t>Click path: None on this slide; move into the live demonstration if scheduled.</a:t>
            </a:r>
          </a:p>
          <a:p xmlns:a="http://schemas.openxmlformats.org/drawingml/2006/main">
            <a:r>
              <a:t>Animation: Native Fade transition.</a:t>
            </a:r>
          </a:p>
          <a:p xmlns:a="http://schemas.openxmlformats.org/drawingml/2006/main">
            <a:r>
              <a:t>Limitation: Use only approved preview data and do not present the Development Preview as a certified production release.</a:t>
            </a:r>
          </a:p>
          <a:p xmlns:a="http://schemas.openxmlformats.org/drawingml/2006/main">
            <a:r>
              <a:t/>
            </a:r>
          </a:p>
          <a:p xmlns:a="http://schemas.openxmlformats.org/drawingml/2006/main">
            <a:r>
              <a:t>[Sources]</a:t>
            </a:r>
          </a:p>
          <a:p xmlns:a="http://schemas.openxmlformats.org/drawingml/2006/main">
            <a:r>
              <a:t>- E:/mpg-church-system/public/icons/icon-512.png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826d094bb348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ef4b5cba9465e" /><Relationship Type="http://schemas.openxmlformats.org/officeDocument/2006/relationships/slideLayout" Target="/ppt/slideLayouts/slideLayout1.xml" Id="R0c77dd28202c42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77dd28202c42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4883ccd0144e09" /><Relationship Type="http://schemas.openxmlformats.org/officeDocument/2006/relationships/image" Target="/ppt/media/image.png" Id="Rc1221684548b4e61" /><Relationship Type="http://schemas.openxmlformats.org/officeDocument/2006/relationships/image" Target="/ppt/media/image2.png" Id="R402cdd2a3b6f4f5b" /><Relationship Type="http://schemas.openxmlformats.org/officeDocument/2006/relationships/notesSlide" Target="/ppt/notesSlides/notesSlide1.xml" Id="R7252910d0e2742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9dd2a9b4d94f1f" /><Relationship Type="http://schemas.openxmlformats.org/officeDocument/2006/relationships/notesSlide" Target="/ppt/notesSlides/notesSlide2.xml" Id="Re4dc9295d1e147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ea7a11612a4353" /><Relationship Type="http://schemas.openxmlformats.org/officeDocument/2006/relationships/notesSlide" Target="/ppt/notesSlides/notesSlide3.xml" Id="Rd20e9052e4ce4e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b96ce6ba8440d4" /><Relationship Type="http://schemas.openxmlformats.org/officeDocument/2006/relationships/image" Target="/ppt/media/image3.png" Id="Rb35ddb334bfc4057" /><Relationship Type="http://schemas.openxmlformats.org/officeDocument/2006/relationships/notesSlide" Target="/ppt/notesSlides/notesSlide4.xml" Id="R0b0140f6b10742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a0c8167be946f9" /><Relationship Type="http://schemas.openxmlformats.org/officeDocument/2006/relationships/notesSlide" Target="/ppt/notesSlides/notesSlide5.xml" Id="Rdafdda8a74774d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61b4b5a1af4fd2" /><Relationship Type="http://schemas.openxmlformats.org/officeDocument/2006/relationships/image" Target="/ppt/media/image4.png" Id="R466e62b9fd104a52" /><Relationship Type="http://schemas.openxmlformats.org/officeDocument/2006/relationships/notesSlide" Target="/ppt/notesSlides/notesSlide6.xml" Id="R0c45fdea106f41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892a8caafe463d" /><Relationship Type="http://schemas.openxmlformats.org/officeDocument/2006/relationships/notesSlide" Target="/ppt/notesSlides/notesSlide7.xml" Id="R39022a33230a46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913f40114a40c1" /><Relationship Type="http://schemas.openxmlformats.org/officeDocument/2006/relationships/notesSlide" Target="/ppt/notesSlides/notesSlide8.xml" Id="R173f55475e7048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4da11c0879450e" /><Relationship Type="http://schemas.openxmlformats.org/officeDocument/2006/relationships/image" Target="/ppt/media/image5.png" Id="R863dbefda596424c" /><Relationship Type="http://schemas.openxmlformats.org/officeDocument/2006/relationships/notesSlide" Target="/ppt/notesSlides/notesSlide9.xml" Id="Rd48afa39908e48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b55516d0d144a8" /><Relationship Type="http://schemas.openxmlformats.org/officeDocument/2006/relationships/notesSlide" Target="/ppt/notesSlides/notesSlide10.xml" Id="Rac2e8eb76d5b4d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5fd00ac7784195" /><Relationship Type="http://schemas.openxmlformats.org/officeDocument/2006/relationships/image" Target="/ppt/media/image6.png" Id="R878b3e5a881b4322" /><Relationship Type="http://schemas.openxmlformats.org/officeDocument/2006/relationships/notesSlide" Target="/ppt/notesSlides/notesSlide11.xml" Id="Rac38d8ccb4104395" /></Relationships>
</file>

<file path=ppt/slides/slide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0406E1-5F26-44C3-9BB7-9BB44D6F43D5}"/>
              </a:ext>
            </a:extLst>
          </p:cNvPr>
          <p:cNvSpPr>
            <a:spLocks xmlns:a="http://schemas.openxmlformats.org/drawingml/2006/main" noGrp="1"/>
          </p:cNvSpPr>
          <p:nvPr/>
        </p:nvSpPr>
        <p:spPr>
          <a:xfrm xmlns:a="http://schemas.openxmlformats.org/drawingml/2006/main">
            <a:off x="8096250" y="0"/>
            <a:ext cx="4095750" cy="6858000"/>
          </a:xfrm>
          <a:prstGeom xmlns:a="http://schemas.openxmlformats.org/drawingml/2006/main" prst="rect">
            <a:avLst/>
          </a:prstGeom>
          <a:solidFill xmlns:a="http://schemas.openxmlformats.org/drawingml/2006/main">
            <a:srgbClr val="0E4434"/>
          </a:solidFill>
          <a:ln xmlns:a="http://schemas.openxmlformats.org/drawingml/2006/main">
            <a:solidFill>
              <a:srgbClr val="0E4434"/>
            </a:solidFill>
          </a:ln>
        </p:spPr>
      </p:sp>
      <p:sp>
        <p:nvSpPr>
          <p:cNvPr id="2" name="">
            <a:extLst xmlns:a="http://schemas.openxmlformats.org/drawingml/2006/main">
              <a:ext uri="{FF2B5EF4-FFF2-40B4-BE49-F238E27FC236}">
                <a16:creationId xmlns:a16="http://schemas.microsoft.com/office/drawing/2014/main" id="{7BC5E53B-BE5E-4EE3-98D7-5B581D2C86C9}"/>
              </a:ext>
            </a:extLst>
          </p:cNvPr>
          <p:cNvSpPr>
            <a:spLocks xmlns:a="http://schemas.openxmlformats.org/drawingml/2006/main" noGrp="1"/>
          </p:cNvSpPr>
          <p:nvPr/>
        </p:nvSpPr>
        <p:spPr>
          <a:xfrm xmlns:a="http://schemas.openxmlformats.org/drawingml/2006/main">
            <a:off x="10382250" y="0"/>
            <a:ext cx="1809750" cy="18097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1221684548b4e61"/>
          <a:stretch xmlns:a="http://schemas.openxmlformats.org/drawingml/2006/main"/>
        </p:blipFill>
        <p:spPr>
          <a:xfrm xmlns:a="http://schemas.openxmlformats.org/drawingml/2006/main">
            <a:off x="685800" y="514350"/>
            <a:ext cx="609600" cy="609600"/>
          </a:xfrm>
          <a:prstGeom xmlns:a="http://schemas.openxmlformats.org/drawingml/2006/main" prst="roundRect">
            <a:avLst>
              <a:gd name="adj" fmla="val 21875"/>
            </a:avLst>
          </a:prstGeom>
        </p:spPr>
      </p:pic>
      <p:sp>
        <p:nvSpPr>
          <p:cNvPr id="4" name="">
            <a:extLst xmlns:a="http://schemas.openxmlformats.org/drawingml/2006/main">
              <a:ext uri="{FF2B5EF4-FFF2-40B4-BE49-F238E27FC236}">
                <a16:creationId xmlns:a16="http://schemas.microsoft.com/office/drawing/2014/main" id="{CC9E09BC-92F2-49DF-BB35-C5E3317BC861}"/>
              </a:ext>
            </a:extLst>
          </p:cNvPr>
          <p:cNvSpPr>
            <a:spLocks xmlns:a="http://schemas.openxmlformats.org/drawingml/2006/main" noGrp="1"/>
          </p:cNvSpPr>
          <p:nvPr/>
        </p:nvSpPr>
        <p:spPr>
          <a:xfrm xmlns:a="http://schemas.openxmlformats.org/drawingml/2006/main">
            <a:off x="1466850" y="628650"/>
            <a:ext cx="2038350" cy="342900"/>
          </a:xfrm>
          <a:prstGeom xmlns:a="http://schemas.openxmlformats.org/drawingml/2006/main" prst="roundRect">
            <a:avLst>
              <a:gd name="adj" fmla="val 44444"/>
            </a:avLst>
          </a:prstGeom>
          <a:solidFill xmlns:a="http://schemas.openxmlformats.org/drawingml/2006/main">
            <a:srgbClr val="DDE9DF"/>
          </a:solidFill>
          <a:ln xmlns:a="http://schemas.openxmlformats.org/drawingml/2006/main">
            <a:solidFill>
              <a:srgbClr val="DDE9DF"/>
            </a:solidFill>
          </a:ln>
        </p:spPr>
      </p:sp>
      <p:sp>
        <p:nvSpPr>
          <p:cNvPr id="5" name="">
            <a:extLst xmlns:a="http://schemas.openxmlformats.org/drawingml/2006/main">
              <a:ext uri="{FF2B5EF4-FFF2-40B4-BE49-F238E27FC236}">
                <a16:creationId xmlns:a16="http://schemas.microsoft.com/office/drawing/2014/main" id="{03AD5669-2158-4B31-8EA6-CEFC21799596}"/>
              </a:ext>
            </a:extLst>
          </p:cNvPr>
          <p:cNvSpPr>
            <a:spLocks xmlns:a="http://schemas.openxmlformats.org/drawingml/2006/main" noGrp="1"/>
          </p:cNvSpPr>
          <p:nvPr/>
        </p:nvSpPr>
        <p:spPr>
          <a:xfrm xmlns:a="http://schemas.openxmlformats.org/drawingml/2006/main">
            <a:off x="1466850" y="628650"/>
            <a:ext cx="2038350" cy="3429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050" b="1">
                <a:solidFill>
                  <a:srgbClr val="1F5A43"/>
                </a:solidFill>
              </a:defRPr>
            </a:pPr>
            <a:r>
              <a:rPr sz="1050" b="1">
                <a:solidFill>
                  <a:srgbClr val="1F5A43"/>
                </a:solidFill>
              </a:rPr>
              <a:t>DEVELOPMENT PREVIEW</a:t>
            </a:r>
          </a:p>
        </p:txBody>
      </p:sp>
      <p:sp>
        <p:nvSpPr>
          <p:cNvPr id="6" name="">
            <a:extLst xmlns:a="http://schemas.openxmlformats.org/drawingml/2006/main">
              <a:ext uri="{FF2B5EF4-FFF2-40B4-BE49-F238E27FC236}">
                <a16:creationId xmlns:a16="http://schemas.microsoft.com/office/drawing/2014/main" id="{3007799D-FCE0-483F-999F-F58AEF815D67}"/>
              </a:ext>
            </a:extLst>
          </p:cNvPr>
          <p:cNvSpPr>
            <a:spLocks xmlns:a="http://schemas.openxmlformats.org/drawingml/2006/main" noGrp="1"/>
          </p:cNvSpPr>
          <p:nvPr/>
        </p:nvSpPr>
        <p:spPr>
          <a:xfrm xmlns:a="http://schemas.openxmlformats.org/drawingml/2006/main">
            <a:off x="685800" y="1600200"/>
            <a:ext cx="6667500" cy="14763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3900" b="1">
                <a:solidFill>
                  <a:srgbClr val="16382E"/>
                </a:solidFill>
              </a:defRPr>
            </a:pPr>
            <a:r>
              <a:rPr sz="3900" b="1">
                <a:solidFill>
                  <a:srgbClr val="16382E"/>
                </a:solidFill>
              </a:rPr>
              <a:t>Church Administration</a:t>
            </a:r>
          </a:p>
          <a:p xmlns:a="http://schemas.openxmlformats.org/drawingml/2006/main">
            <a:pPr algn="l">
              <a:defRPr sz="3900" b="1">
                <a:solidFill>
                  <a:srgbClr val="16382E"/>
                </a:solidFill>
              </a:defRPr>
            </a:pPr>
            <a:r>
              <a:rPr sz="3900" b="1">
                <a:solidFill>
                  <a:srgbClr val="16382E"/>
                </a:solidFill>
              </a:rPr>
              <a:t>&amp; Member Portal</a:t>
            </a:r>
          </a:p>
        </p:txBody>
      </p:sp>
      <p:sp>
        <p:nvSpPr>
          <p:cNvPr id="7" name="">
            <a:extLst xmlns:a="http://schemas.openxmlformats.org/drawingml/2006/main">
              <a:ext uri="{FF2B5EF4-FFF2-40B4-BE49-F238E27FC236}">
                <a16:creationId xmlns:a16="http://schemas.microsoft.com/office/drawing/2014/main" id="{5925E151-3C29-484B-92A4-C54B04942E59}"/>
              </a:ext>
            </a:extLst>
          </p:cNvPr>
          <p:cNvSpPr>
            <a:spLocks xmlns:a="http://schemas.openxmlformats.org/drawingml/2006/main" noGrp="1"/>
          </p:cNvSpPr>
          <p:nvPr/>
        </p:nvSpPr>
        <p:spPr>
          <a:xfrm xmlns:a="http://schemas.openxmlformats.org/drawingml/2006/main">
            <a:off x="685800" y="3286125"/>
            <a:ext cx="62865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0">
                <a:solidFill>
                  <a:srgbClr val="63736D"/>
                </a:solidFill>
              </a:defRPr>
            </a:pPr>
            <a:r>
              <a:rPr sz="1725" b="0">
                <a:solidFill>
                  <a:srgbClr val="63736D"/>
                </a:solidFill>
              </a:rPr>
              <a:t>A practical introduction to the two connected workspaces in the MPG Church System.</a:t>
            </a:r>
          </a:p>
        </p:txBody>
      </p:sp>
      <p:sp>
        <p:nvSpPr>
          <p:cNvPr id="8" name="">
            <a:extLst xmlns:a="http://schemas.openxmlformats.org/drawingml/2006/main">
              <a:ext uri="{FF2B5EF4-FFF2-40B4-BE49-F238E27FC236}">
                <a16:creationId xmlns:a16="http://schemas.microsoft.com/office/drawing/2014/main" id="{597F3B54-A801-4D25-9AE8-727958CF3E9F}"/>
              </a:ext>
            </a:extLst>
          </p:cNvPr>
          <p:cNvSpPr>
            <a:spLocks xmlns:a="http://schemas.openxmlformats.org/drawingml/2006/main" noGrp="1"/>
          </p:cNvSpPr>
          <p:nvPr/>
        </p:nvSpPr>
        <p:spPr>
          <a:xfrm xmlns:a="http://schemas.openxmlformats.org/drawingml/2006/main">
            <a:off x="685800" y="4457700"/>
            <a:ext cx="895350" cy="47625"/>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9" name="">
            <a:extLst xmlns:a="http://schemas.openxmlformats.org/drawingml/2006/main">
              <a:ext uri="{FF2B5EF4-FFF2-40B4-BE49-F238E27FC236}">
                <a16:creationId xmlns:a16="http://schemas.microsoft.com/office/drawing/2014/main" id="{0D532648-B087-40DC-8419-7F92BE1FDE23}"/>
              </a:ext>
            </a:extLst>
          </p:cNvPr>
          <p:cNvSpPr>
            <a:spLocks xmlns:a="http://schemas.openxmlformats.org/drawingml/2006/main" noGrp="1"/>
          </p:cNvSpPr>
          <p:nvPr/>
        </p:nvSpPr>
        <p:spPr>
          <a:xfrm xmlns:a="http://schemas.openxmlformats.org/drawingml/2006/main">
            <a:off x="685800" y="4638675"/>
            <a:ext cx="628650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1">
                <a:solidFill>
                  <a:srgbClr val="1F5A43"/>
                </a:solidFill>
              </a:defRPr>
            </a:pPr>
            <a:r>
              <a:rPr sz="1275" b="1">
                <a:solidFill>
                  <a:srgbClr val="1F5A43"/>
                </a:solidFill>
              </a:rPr>
              <a:t>Administrator tutorial  ·  Member first-use guide</a:t>
            </a:r>
          </a:p>
        </p:txBody>
      </p:sp>
      <p:sp>
        <p:nvSpPr>
          <p:cNvPr id="10" name="">
            <a:extLst xmlns:a="http://schemas.openxmlformats.org/drawingml/2006/main">
              <a:ext uri="{FF2B5EF4-FFF2-40B4-BE49-F238E27FC236}">
                <a16:creationId xmlns:a16="http://schemas.microsoft.com/office/drawing/2014/main" id="{BC0288B0-53E1-4B77-8805-9A5A5ED5205A}"/>
              </a:ext>
            </a:extLst>
          </p:cNvPr>
          <p:cNvSpPr>
            <a:spLocks xmlns:a="http://schemas.openxmlformats.org/drawingml/2006/main" noGrp="1"/>
          </p:cNvSpPr>
          <p:nvPr/>
        </p:nvSpPr>
        <p:spPr>
          <a:xfrm xmlns:a="http://schemas.openxmlformats.org/drawingml/2006/main">
            <a:off x="8724900" y="876300"/>
            <a:ext cx="2800350" cy="495300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9525">
            <a:solidFill>
              <a:srgbClr val="CBD6CF"/>
            </a:solidFill>
          </a:ln>
        </p:spPr>
      </p:sp>
      <p:sp>
        <p:nvSpPr>
          <p:cNvPr id="11" name="">
            <a:extLst xmlns:a="http://schemas.openxmlformats.org/drawingml/2006/main">
              <a:ext uri="{FF2B5EF4-FFF2-40B4-BE49-F238E27FC236}">
                <a16:creationId xmlns:a16="http://schemas.microsoft.com/office/drawing/2014/main" id="{1736464D-A634-4647-9196-6BC65387CA96}"/>
              </a:ext>
            </a:extLst>
          </p:cNvPr>
          <p:cNvSpPr>
            <a:spLocks xmlns:a="http://schemas.openxmlformats.org/drawingml/2006/main" noGrp="1"/>
          </p:cNvSpPr>
          <p:nvPr/>
        </p:nvSpPr>
        <p:spPr>
          <a:xfrm xmlns:a="http://schemas.openxmlformats.org/drawingml/2006/main">
            <a:off x="8820150" y="971550"/>
            <a:ext cx="2609850" cy="4762500"/>
          </a:xfrm>
          <a:prstGeom xmlns:a="http://schemas.openxmlformats.org/drawingml/2006/main" prst="roundRect">
            <a:avLst>
              <a:gd name="adj" fmla="val 4380"/>
            </a:avLst>
          </a:prstGeom>
          <a:solidFill xmlns:a="http://schemas.openxmlformats.org/drawingml/2006/main">
            <a:srgbClr val="FFFDFC"/>
          </a:solidFill>
          <a:ln xmlns:a="http://schemas.openxmlformats.org/drawingml/2006/main">
            <a:solidFill>
              <a:srgbClr val="FFFDFC"/>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02cdd2a3b6f4f5b"/>
          <a:srcRect xmlns:a="http://schemas.openxmlformats.org/drawingml/2006/main" l="0" t="36733" r="0" b="36733"/>
          <a:stretch xmlns:a="http://schemas.openxmlformats.org/drawingml/2006/main">
            <a:fillRect l="0" t="0" r="0" b="0"/>
          </a:stretch>
        </p:blipFill>
        <p:spPr>
          <a:xfrm xmlns:a="http://schemas.openxmlformats.org/drawingml/2006/main">
            <a:off x="8839200" y="990600"/>
            <a:ext cx="2571750" cy="4724400"/>
          </a:xfrm>
          <a:prstGeom xmlns:a="http://schemas.openxmlformats.org/drawingml/2006/main" prst="roundRect">
            <a:avLst>
              <a:gd name="adj" fmla="val 4444"/>
            </a:avLst>
          </a:prstGeom>
        </p:spPr>
      </p:pic>
      <p:sp>
        <p:nvSpPr>
          <p:cNvPr id="13" name="">
            <a:extLst xmlns:a="http://schemas.openxmlformats.org/drawingml/2006/main">
              <a:ext uri="{FF2B5EF4-FFF2-40B4-BE49-F238E27FC236}">
                <a16:creationId xmlns:a16="http://schemas.microsoft.com/office/drawing/2014/main" id="{4A3C4AC5-6A1F-4428-963B-337A93BC0E49}"/>
              </a:ext>
            </a:extLst>
          </p:cNvPr>
          <p:cNvSpPr>
            <a:spLocks xmlns:a="http://schemas.openxmlformats.org/drawingml/2006/main" noGrp="1"/>
          </p:cNvSpPr>
          <p:nvPr/>
        </p:nvSpPr>
        <p:spPr>
          <a:xfrm xmlns:a="http://schemas.openxmlformats.org/drawingml/2006/main">
            <a:off x="8686800" y="5981700"/>
            <a:ext cx="287655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E9D8A8"/>
                </a:solidFill>
              </a:defRPr>
            </a:pPr>
            <a:r>
              <a:rPr sz="900" b="1">
                <a:solidFill>
                  <a:srgbClr val="E9D8A8"/>
                </a:solidFill>
              </a:rPr>
              <a:t>10–15 MINUTE GUIDED TOUR</a:t>
            </a:r>
          </a:p>
        </p:txBody>
      </p:sp>
      <p:sp>
        <p:nvSpPr>
          <p:cNvPr id="14" name="">
            <a:extLst xmlns:a="http://schemas.openxmlformats.org/drawingml/2006/main">
              <a:ext uri="{FF2B5EF4-FFF2-40B4-BE49-F238E27FC236}">
                <a16:creationId xmlns:a16="http://schemas.microsoft.com/office/drawing/2014/main" id="{D213AF27-ED43-48FE-944B-150A0D162A8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15" name="">
            <a:extLst xmlns:a="http://schemas.openxmlformats.org/drawingml/2006/main">
              <a:ext uri="{FF2B5EF4-FFF2-40B4-BE49-F238E27FC236}">
                <a16:creationId xmlns:a16="http://schemas.microsoft.com/office/drawing/2014/main" id="{003C7B08-E8AA-4247-B40C-9559C4267045}"/>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16" name="">
            <a:extLst xmlns:a="http://schemas.openxmlformats.org/drawingml/2006/main">
              <a:ext uri="{FF2B5EF4-FFF2-40B4-BE49-F238E27FC236}">
                <a16:creationId xmlns:a16="http://schemas.microsoft.com/office/drawing/2014/main" id="{A7EACF6E-1473-4C36-BF97-F769FD6561CC}"/>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01</a:t>
            </a:r>
          </a:p>
        </p:txBody>
      </p:sp>
    </p:spTree>
    <p:transition spd="med" advClick="1">
      <p:fade/>
    </p:transition>
    <p:extLst>
      <p:ext uri="{BB962C8B-B14F-4D97-AF65-F5344CB8AC3E}">
        <p14:creationId xmlns:p14="http://schemas.microsoft.com/office/powerpoint/2010/main" val="223913645"/>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B16FDDB-45BB-4487-9A57-3BBF5C8D46B3}"/>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ORIENTATION</a:t>
            </a:r>
          </a:p>
        </p:txBody>
      </p:sp>
      <p:sp>
        <p:nvSpPr>
          <p:cNvPr id="2" name="">
            <a:extLst xmlns:a="http://schemas.openxmlformats.org/drawingml/2006/main">
              <a:ext uri="{FF2B5EF4-FFF2-40B4-BE49-F238E27FC236}">
                <a16:creationId xmlns:a16="http://schemas.microsoft.com/office/drawing/2014/main" id="{5DC4DFDF-5518-4E9B-8F84-995263207A55}"/>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852BC560-13B2-49F5-A2BD-229B4A4DFC76}"/>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Two workspaces. One connected church.</a:t>
            </a:r>
          </a:p>
        </p:txBody>
      </p:sp>
      <p:sp>
        <p:nvSpPr>
          <p:cNvPr id="4" name="">
            <a:extLst xmlns:a="http://schemas.openxmlformats.org/drawingml/2006/main">
              <a:ext uri="{FF2B5EF4-FFF2-40B4-BE49-F238E27FC236}">
                <a16:creationId xmlns:a16="http://schemas.microsoft.com/office/drawing/2014/main" id="{2C0F9B2E-B636-4B45-B897-FD835226B840}"/>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The same church information is presented differently according to responsibility.</a:t>
            </a:r>
          </a:p>
        </p:txBody>
      </p:sp>
      <p:sp>
        <p:nvSpPr>
          <p:cNvPr id="5" name="">
            <a:extLst xmlns:a="http://schemas.openxmlformats.org/drawingml/2006/main">
              <a:ext uri="{FF2B5EF4-FFF2-40B4-BE49-F238E27FC236}">
                <a16:creationId xmlns:a16="http://schemas.microsoft.com/office/drawing/2014/main" id="{0D935DDE-100C-44F1-977C-A2A0B0973AF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A4C4E31C-1D5C-449D-81D8-59D3336A435C}"/>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50A89FE2-2C1D-4EDC-9F0B-EFEDF2C8B8FB}"/>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02</a:t>
            </a:r>
          </a:p>
        </p:txBody>
      </p:sp>
      <p:sp>
        <p:nvSpPr>
          <p:cNvPr id="8" name="">
            <a:extLst xmlns:a="http://schemas.openxmlformats.org/drawingml/2006/main">
              <a:ext uri="{FF2B5EF4-FFF2-40B4-BE49-F238E27FC236}">
                <a16:creationId xmlns:a16="http://schemas.microsoft.com/office/drawing/2014/main" id="{5C4E8C7D-39FE-4F96-9B44-4F9B3224BCE2}"/>
              </a:ext>
            </a:extLst>
          </p:cNvPr>
          <p:cNvSpPr>
            <a:spLocks xmlns:a="http://schemas.openxmlformats.org/drawingml/2006/main" noGrp="1"/>
          </p:cNvSpPr>
          <p:nvPr/>
        </p:nvSpPr>
        <p:spPr>
          <a:xfrm xmlns:a="http://schemas.openxmlformats.org/drawingml/2006/main">
            <a:off x="609600" y="2209800"/>
            <a:ext cx="4953000" cy="3486150"/>
          </a:xfrm>
          <a:prstGeom xmlns:a="http://schemas.openxmlformats.org/drawingml/2006/main" prst="roundRect">
            <a:avLst>
              <a:gd name="adj" fmla="val 6557"/>
            </a:avLst>
          </a:prstGeom>
          <a:solidFill xmlns:a="http://schemas.openxmlformats.org/drawingml/2006/main">
            <a:srgbClr val="0E4434"/>
          </a:solidFill>
          <a:ln xmlns:a="http://schemas.openxmlformats.org/drawingml/2006/main">
            <a:solidFill>
              <a:srgbClr val="0E4434"/>
            </a:solidFill>
          </a:ln>
        </p:spPr>
      </p:sp>
      <p:sp>
        <p:nvSpPr>
          <p:cNvPr id="9" name="">
            <a:extLst xmlns:a="http://schemas.openxmlformats.org/drawingml/2006/main">
              <a:ext uri="{FF2B5EF4-FFF2-40B4-BE49-F238E27FC236}">
                <a16:creationId xmlns:a16="http://schemas.microsoft.com/office/drawing/2014/main" id="{FC4084F4-E404-412D-8E41-A65E70A5C7C5}"/>
              </a:ext>
            </a:extLst>
          </p:cNvPr>
          <p:cNvSpPr>
            <a:spLocks xmlns:a="http://schemas.openxmlformats.org/drawingml/2006/main" noGrp="1"/>
          </p:cNvSpPr>
          <p:nvPr/>
        </p:nvSpPr>
        <p:spPr>
          <a:xfrm xmlns:a="http://schemas.openxmlformats.org/drawingml/2006/main">
            <a:off x="933450" y="2533650"/>
            <a:ext cx="28575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E9D8A8"/>
                </a:solidFill>
              </a:defRPr>
            </a:pPr>
            <a:r>
              <a:rPr sz="1050" b="1">
                <a:solidFill>
                  <a:srgbClr val="E9D8A8"/>
                </a:solidFill>
              </a:rPr>
              <a:t>ADMINISTRATION</a:t>
            </a:r>
          </a:p>
        </p:txBody>
      </p:sp>
      <p:sp>
        <p:nvSpPr>
          <p:cNvPr id="10" name="">
            <a:extLst xmlns:a="http://schemas.openxmlformats.org/drawingml/2006/main">
              <a:ext uri="{FF2B5EF4-FFF2-40B4-BE49-F238E27FC236}">
                <a16:creationId xmlns:a16="http://schemas.microsoft.com/office/drawing/2014/main" id="{B11DEED5-2C5D-4688-B0D8-AF5FDEB7D718}"/>
              </a:ext>
            </a:extLst>
          </p:cNvPr>
          <p:cNvSpPr>
            <a:spLocks xmlns:a="http://schemas.openxmlformats.org/drawingml/2006/main" noGrp="1"/>
          </p:cNvSpPr>
          <p:nvPr/>
        </p:nvSpPr>
        <p:spPr>
          <a:xfrm xmlns:a="http://schemas.openxmlformats.org/drawingml/2006/main">
            <a:off x="933450" y="2933700"/>
            <a:ext cx="3714750" cy="5238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FFFFFF"/>
                </a:solidFill>
              </a:defRPr>
            </a:pPr>
            <a:r>
              <a:rPr sz="2850" b="1">
                <a:solidFill>
                  <a:srgbClr val="FFFFFF"/>
                </a:solidFill>
              </a:rPr>
              <a:t>Run the work</a:t>
            </a:r>
          </a:p>
        </p:txBody>
      </p:sp>
      <p:sp>
        <p:nvSpPr>
          <p:cNvPr id="11" name="">
            <a:extLst xmlns:a="http://schemas.openxmlformats.org/drawingml/2006/main">
              <a:ext uri="{FF2B5EF4-FFF2-40B4-BE49-F238E27FC236}">
                <a16:creationId xmlns:a16="http://schemas.microsoft.com/office/drawing/2014/main" id="{706BF12F-A33A-435C-A065-715E2436ED30}"/>
              </a:ext>
            </a:extLst>
          </p:cNvPr>
          <p:cNvSpPr>
            <a:spLocks xmlns:a="http://schemas.openxmlformats.org/drawingml/2006/main" noGrp="1"/>
          </p:cNvSpPr>
          <p:nvPr/>
        </p:nvSpPr>
        <p:spPr>
          <a:xfrm xmlns:a="http://schemas.openxmlformats.org/drawingml/2006/main">
            <a:off x="933450" y="3638550"/>
            <a:ext cx="3886200" cy="1181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0">
                <a:solidFill>
                  <a:srgbClr val="DDE7E2"/>
                </a:solidFill>
              </a:defRPr>
            </a:pPr>
            <a:r>
              <a:rPr sz="1575" b="0">
                <a:solidFill>
                  <a:srgbClr val="DDE7E2"/>
                </a:solidFill>
              </a:rPr>
              <a:t>Members · households · attendance</a:t>
            </a:r>
          </a:p>
          <a:p xmlns:a="http://schemas.openxmlformats.org/drawingml/2006/main">
            <a:pPr algn="l">
              <a:defRPr sz="1575" b="0">
                <a:solidFill>
                  <a:srgbClr val="DDE7E2"/>
                </a:solidFill>
              </a:defRPr>
            </a:pPr>
            <a:r>
              <a:rPr sz="1575" b="0">
                <a:solidFill>
                  <a:srgbClr val="DDE7E2"/>
                </a:solidFill>
              </a:rPr>
              <a:t>Ministries · events · treasury</a:t>
            </a:r>
          </a:p>
          <a:p xmlns:a="http://schemas.openxmlformats.org/drawingml/2006/main">
            <a:pPr algn="l">
              <a:defRPr sz="1575" b="0">
                <a:solidFill>
                  <a:srgbClr val="DDE7E2"/>
                </a:solidFill>
              </a:defRPr>
            </a:pPr>
            <a:r>
              <a:rPr sz="1575" b="0">
                <a:solidFill>
                  <a:srgbClr val="DDE7E2"/>
                </a:solidFill>
              </a:rPr>
              <a:t>Approvals · access · reports</a:t>
            </a:r>
          </a:p>
        </p:txBody>
      </p:sp>
      <p:sp>
        <p:nvSpPr>
          <p:cNvPr id="12" name="">
            <a:extLst xmlns:a="http://schemas.openxmlformats.org/drawingml/2006/main">
              <a:ext uri="{FF2B5EF4-FFF2-40B4-BE49-F238E27FC236}">
                <a16:creationId xmlns:a16="http://schemas.microsoft.com/office/drawing/2014/main" id="{23AF0422-0983-4921-A3AA-79A310E57CF5}"/>
              </a:ext>
            </a:extLst>
          </p:cNvPr>
          <p:cNvSpPr>
            <a:spLocks xmlns:a="http://schemas.openxmlformats.org/drawingml/2006/main" noGrp="1"/>
          </p:cNvSpPr>
          <p:nvPr/>
        </p:nvSpPr>
        <p:spPr>
          <a:xfrm xmlns:a="http://schemas.openxmlformats.org/drawingml/2006/main">
            <a:off x="933450" y="5162550"/>
            <a:ext cx="3429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1">
                <a:solidFill>
                  <a:srgbClr val="E9D8A8"/>
                </a:solidFill>
              </a:defRPr>
            </a:pPr>
            <a:r>
              <a:rPr sz="1125" b="1">
                <a:solidFill>
                  <a:srgbClr val="E9D8A8"/>
                </a:solidFill>
              </a:rPr>
              <a:t>For authorized church workers</a:t>
            </a:r>
          </a:p>
        </p:txBody>
      </p:sp>
      <p:sp>
        <p:nvSpPr>
          <p:cNvPr id="13" name="">
            <a:extLst xmlns:a="http://schemas.openxmlformats.org/drawingml/2006/main">
              <a:ext uri="{FF2B5EF4-FFF2-40B4-BE49-F238E27FC236}">
                <a16:creationId xmlns:a16="http://schemas.microsoft.com/office/drawing/2014/main" id="{E7941C17-877F-47A2-8F2B-0FB07D3BFE52}"/>
              </a:ext>
            </a:extLst>
          </p:cNvPr>
          <p:cNvSpPr>
            <a:spLocks xmlns:a="http://schemas.openxmlformats.org/drawingml/2006/main" noGrp="1"/>
          </p:cNvSpPr>
          <p:nvPr/>
        </p:nvSpPr>
        <p:spPr>
          <a:xfrm xmlns:a="http://schemas.openxmlformats.org/drawingml/2006/main">
            <a:off x="5657850" y="3486150"/>
            <a:ext cx="876300" cy="87630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14" name="">
            <a:extLst xmlns:a="http://schemas.openxmlformats.org/drawingml/2006/main">
              <a:ext uri="{FF2B5EF4-FFF2-40B4-BE49-F238E27FC236}">
                <a16:creationId xmlns:a16="http://schemas.microsoft.com/office/drawing/2014/main" id="{CF3C5908-F1A7-4C73-8298-1A081269AAB9}"/>
              </a:ext>
            </a:extLst>
          </p:cNvPr>
          <p:cNvSpPr>
            <a:spLocks xmlns:a="http://schemas.openxmlformats.org/drawingml/2006/main" noGrp="1"/>
          </p:cNvSpPr>
          <p:nvPr/>
        </p:nvSpPr>
        <p:spPr>
          <a:xfrm xmlns:a="http://schemas.openxmlformats.org/drawingml/2006/main">
            <a:off x="5657850" y="3486150"/>
            <a:ext cx="876300" cy="8763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2850" b="1">
                <a:solidFill>
                  <a:srgbClr val="FFFFFF"/>
                </a:solidFill>
              </a:defRPr>
            </a:pPr>
            <a:r>
              <a:rPr sz="2850" b="1">
                <a:solidFill>
                  <a:srgbClr val="FFFFFF"/>
                </a:solidFill>
              </a:rPr>
              <a:t>+</a:t>
            </a:r>
          </a:p>
        </p:txBody>
      </p:sp>
      <p:sp>
        <p:nvSpPr>
          <p:cNvPr id="15" name="">
            <a:extLst xmlns:a="http://schemas.openxmlformats.org/drawingml/2006/main">
              <a:ext uri="{FF2B5EF4-FFF2-40B4-BE49-F238E27FC236}">
                <a16:creationId xmlns:a16="http://schemas.microsoft.com/office/drawing/2014/main" id="{7C3BC2D5-7744-47DC-BC25-F923488C192A}"/>
              </a:ext>
            </a:extLst>
          </p:cNvPr>
          <p:cNvSpPr>
            <a:spLocks xmlns:a="http://schemas.openxmlformats.org/drawingml/2006/main" noGrp="1"/>
          </p:cNvSpPr>
          <p:nvPr/>
        </p:nvSpPr>
        <p:spPr>
          <a:xfrm xmlns:a="http://schemas.openxmlformats.org/drawingml/2006/main">
            <a:off x="6629400" y="2209800"/>
            <a:ext cx="4953000" cy="3486150"/>
          </a:xfrm>
          <a:prstGeom xmlns:a="http://schemas.openxmlformats.org/drawingml/2006/main" prst="roundRect">
            <a:avLst>
              <a:gd name="adj" fmla="val 6557"/>
            </a:avLst>
          </a:prstGeom>
          <a:solidFill xmlns:a="http://schemas.openxmlformats.org/drawingml/2006/main">
            <a:srgbClr val="FFFDFC"/>
          </a:solidFill>
          <a:ln xmlns:a="http://schemas.openxmlformats.org/drawingml/2006/main" w="9525">
            <a:solidFill>
              <a:srgbClr val="CBD6CF"/>
            </a:solidFill>
          </a:ln>
        </p:spPr>
      </p:sp>
      <p:sp>
        <p:nvSpPr>
          <p:cNvPr id="16" name="">
            <a:extLst xmlns:a="http://schemas.openxmlformats.org/drawingml/2006/main">
              <a:ext uri="{FF2B5EF4-FFF2-40B4-BE49-F238E27FC236}">
                <a16:creationId xmlns:a16="http://schemas.microsoft.com/office/drawing/2014/main" id="{B02E0994-03FA-465B-8B0B-D870C9FF4735}"/>
              </a:ext>
            </a:extLst>
          </p:cNvPr>
          <p:cNvSpPr>
            <a:spLocks xmlns:a="http://schemas.openxmlformats.org/drawingml/2006/main" noGrp="1"/>
          </p:cNvSpPr>
          <p:nvPr/>
        </p:nvSpPr>
        <p:spPr>
          <a:xfrm xmlns:a="http://schemas.openxmlformats.org/drawingml/2006/main">
            <a:off x="6953250" y="2533650"/>
            <a:ext cx="28575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1F5A43"/>
                </a:solidFill>
              </a:defRPr>
            </a:pPr>
            <a:r>
              <a:rPr sz="1050" b="1">
                <a:solidFill>
                  <a:srgbClr val="1F5A43"/>
                </a:solidFill>
              </a:rPr>
              <a:t>MEMBER PORTAL</a:t>
            </a:r>
          </a:p>
        </p:txBody>
      </p:sp>
      <p:sp>
        <p:nvSpPr>
          <p:cNvPr id="17" name="">
            <a:extLst xmlns:a="http://schemas.openxmlformats.org/drawingml/2006/main">
              <a:ext uri="{FF2B5EF4-FFF2-40B4-BE49-F238E27FC236}">
                <a16:creationId xmlns:a16="http://schemas.microsoft.com/office/drawing/2014/main" id="{82529A64-5BB0-4CB1-87FA-6A007620CF8D}"/>
              </a:ext>
            </a:extLst>
          </p:cNvPr>
          <p:cNvSpPr>
            <a:spLocks xmlns:a="http://schemas.openxmlformats.org/drawingml/2006/main" noGrp="1"/>
          </p:cNvSpPr>
          <p:nvPr/>
        </p:nvSpPr>
        <p:spPr>
          <a:xfrm xmlns:a="http://schemas.openxmlformats.org/drawingml/2006/main">
            <a:off x="6953250" y="2933700"/>
            <a:ext cx="3810000" cy="5238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Stay connected</a:t>
            </a:r>
          </a:p>
        </p:txBody>
      </p:sp>
      <p:sp>
        <p:nvSpPr>
          <p:cNvPr id="18" name="">
            <a:extLst xmlns:a="http://schemas.openxmlformats.org/drawingml/2006/main">
              <a:ext uri="{FF2B5EF4-FFF2-40B4-BE49-F238E27FC236}">
                <a16:creationId xmlns:a16="http://schemas.microsoft.com/office/drawing/2014/main" id="{FDF5662C-7861-451D-A9B9-F8EB197808EF}"/>
              </a:ext>
            </a:extLst>
          </p:cNvPr>
          <p:cNvSpPr>
            <a:spLocks xmlns:a="http://schemas.openxmlformats.org/drawingml/2006/main" noGrp="1"/>
          </p:cNvSpPr>
          <p:nvPr/>
        </p:nvSpPr>
        <p:spPr>
          <a:xfrm xmlns:a="http://schemas.openxmlformats.org/drawingml/2006/main">
            <a:off x="6953250" y="3638550"/>
            <a:ext cx="3886200" cy="1181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0">
                <a:solidFill>
                  <a:srgbClr val="63736D"/>
                </a:solidFill>
              </a:defRPr>
            </a:pPr>
            <a:r>
              <a:rPr sz="1575" b="0">
                <a:solidFill>
                  <a:srgbClr val="63736D"/>
                </a:solidFill>
              </a:rPr>
              <a:t>Home · ministries · events</a:t>
            </a:r>
          </a:p>
          <a:p xmlns:a="http://schemas.openxmlformats.org/drawingml/2006/main">
            <a:pPr algn="l">
              <a:defRPr sz="1575" b="0">
                <a:solidFill>
                  <a:srgbClr val="63736D"/>
                </a:solidFill>
              </a:defRPr>
            </a:pPr>
            <a:r>
              <a:rPr sz="1575" b="0">
                <a:solidFill>
                  <a:srgbClr val="63736D"/>
                </a:solidFill>
              </a:rPr>
              <a:t>Recorded giving · profile</a:t>
            </a:r>
          </a:p>
          <a:p xmlns:a="http://schemas.openxmlformats.org/drawingml/2006/main">
            <a:pPr algn="l">
              <a:defRPr sz="1575" b="0">
                <a:solidFill>
                  <a:srgbClr val="63736D"/>
                </a:solidFill>
              </a:defRPr>
            </a:pPr>
            <a:r>
              <a:rPr sz="1575" b="0">
                <a:solidFill>
                  <a:srgbClr val="63736D"/>
                </a:solidFill>
              </a:rPr>
              <a:t>Personal information at a glance</a:t>
            </a:r>
          </a:p>
        </p:txBody>
      </p:sp>
      <p:sp>
        <p:nvSpPr>
          <p:cNvPr id="19" name="">
            <a:extLst xmlns:a="http://schemas.openxmlformats.org/drawingml/2006/main">
              <a:ext uri="{FF2B5EF4-FFF2-40B4-BE49-F238E27FC236}">
                <a16:creationId xmlns:a16="http://schemas.microsoft.com/office/drawing/2014/main" id="{D8E87924-1F50-4DD8-A7C8-DCF13C9E057E}"/>
              </a:ext>
            </a:extLst>
          </p:cNvPr>
          <p:cNvSpPr>
            <a:spLocks xmlns:a="http://schemas.openxmlformats.org/drawingml/2006/main" noGrp="1"/>
          </p:cNvSpPr>
          <p:nvPr/>
        </p:nvSpPr>
        <p:spPr>
          <a:xfrm xmlns:a="http://schemas.openxmlformats.org/drawingml/2006/main">
            <a:off x="6953250" y="5162550"/>
            <a:ext cx="3429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1">
                <a:solidFill>
                  <a:srgbClr val="1F5A43"/>
                </a:solidFill>
              </a:defRPr>
            </a:pPr>
            <a:r>
              <a:rPr sz="1125" b="1">
                <a:solidFill>
                  <a:srgbClr val="1F5A43"/>
                </a:solidFill>
              </a:rPr>
              <a:t>For each church member</a:t>
            </a:r>
          </a:p>
        </p:txBody>
      </p:sp>
    </p:spTree>
    <p:transition spd="med" advClick="1">
      <p:fade/>
    </p:transition>
    <p:extLst>
      <p:ext uri="{BB962C8B-B14F-4D97-AF65-F5344CB8AC3E}">
        <p14:creationId xmlns:p14="http://schemas.microsoft.com/office/powerpoint/2010/main" val="1495374403"/>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CDC227B-6629-49E9-AFC2-D9301194DC2B}"/>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ACCESS</a:t>
            </a:r>
          </a:p>
        </p:txBody>
      </p:sp>
      <p:sp>
        <p:nvSpPr>
          <p:cNvPr id="2" name="">
            <a:extLst xmlns:a="http://schemas.openxmlformats.org/drawingml/2006/main">
              <a:ext uri="{FF2B5EF4-FFF2-40B4-BE49-F238E27FC236}">
                <a16:creationId xmlns:a16="http://schemas.microsoft.com/office/drawing/2014/main" id="{99D31970-0007-4172-91D6-0D5B66C80DC0}"/>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A93B998C-0493-4AD9-AB66-BD1678E3032E}"/>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Your role shapes what you can see and do</a:t>
            </a:r>
          </a:p>
        </p:txBody>
      </p:sp>
      <p:sp>
        <p:nvSpPr>
          <p:cNvPr id="4" name="">
            <a:extLst xmlns:a="http://schemas.openxmlformats.org/drawingml/2006/main">
              <a:ext uri="{FF2B5EF4-FFF2-40B4-BE49-F238E27FC236}">
                <a16:creationId xmlns:a16="http://schemas.microsoft.com/office/drawing/2014/main" id="{FED1621A-48D3-40FF-9C5F-5EA33189F64A}"/>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Use the least access needed for the responsibility—not one shared administrator login.</a:t>
            </a:r>
          </a:p>
        </p:txBody>
      </p:sp>
      <p:sp>
        <p:nvSpPr>
          <p:cNvPr id="5" name="">
            <a:extLst xmlns:a="http://schemas.openxmlformats.org/drawingml/2006/main">
              <a:ext uri="{FF2B5EF4-FFF2-40B4-BE49-F238E27FC236}">
                <a16:creationId xmlns:a16="http://schemas.microsoft.com/office/drawing/2014/main" id="{6B4B63DE-96D0-40AF-9CFE-C0DD699656C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A70556CB-0F94-429F-9A57-07FE8BCAC545}"/>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6FB1E59A-F747-4AFE-9027-58CB80A64587}"/>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03</a:t>
            </a:r>
          </a:p>
        </p:txBody>
      </p:sp>
      <p:sp>
        <p:nvSpPr>
          <p:cNvPr id="8" name="">
            <a:extLst xmlns:a="http://schemas.openxmlformats.org/drawingml/2006/main">
              <a:ext uri="{FF2B5EF4-FFF2-40B4-BE49-F238E27FC236}">
                <a16:creationId xmlns:a16="http://schemas.microsoft.com/office/drawing/2014/main" id="{9AE3230F-A0FE-4ED6-AEE6-8BCCB75F8B37}"/>
              </a:ext>
            </a:extLst>
          </p:cNvPr>
          <p:cNvSpPr>
            <a:spLocks xmlns:a="http://schemas.openxmlformats.org/drawingml/2006/main" noGrp="1"/>
          </p:cNvSpPr>
          <p:nvPr/>
        </p:nvSpPr>
        <p:spPr>
          <a:xfrm xmlns:a="http://schemas.openxmlformats.org/drawingml/2006/main">
            <a:off x="685800" y="2228850"/>
            <a:ext cx="180975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63736D"/>
                </a:solidFill>
              </a:defRPr>
            </a:pPr>
            <a:r>
              <a:rPr sz="975" b="1">
                <a:solidFill>
                  <a:srgbClr val="63736D"/>
                </a:solidFill>
              </a:rPr>
              <a:t>PERSONAL VIEW</a:t>
            </a:r>
          </a:p>
        </p:txBody>
      </p:sp>
      <p:sp>
        <p:nvSpPr>
          <p:cNvPr id="9" name="">
            <a:extLst xmlns:a="http://schemas.openxmlformats.org/drawingml/2006/main">
              <a:ext uri="{FF2B5EF4-FFF2-40B4-BE49-F238E27FC236}">
                <a16:creationId xmlns:a16="http://schemas.microsoft.com/office/drawing/2014/main" id="{EBFAA009-0110-40C9-A170-C250ED8CCF9E}"/>
              </a:ext>
            </a:extLst>
          </p:cNvPr>
          <p:cNvSpPr>
            <a:spLocks xmlns:a="http://schemas.openxmlformats.org/drawingml/2006/main" noGrp="1"/>
          </p:cNvSpPr>
          <p:nvPr/>
        </p:nvSpPr>
        <p:spPr>
          <a:xfrm xmlns:a="http://schemas.openxmlformats.org/drawingml/2006/main">
            <a:off x="9563100" y="2228850"/>
            <a:ext cx="20193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975" b="1">
                <a:solidFill>
                  <a:srgbClr val="1F5A43"/>
                </a:solidFill>
              </a:defRPr>
            </a:pPr>
            <a:r>
              <a:rPr sz="975" b="1">
                <a:solidFill>
                  <a:srgbClr val="1F5A43"/>
                </a:solidFill>
              </a:rPr>
              <a:t>FULL CHURCH OVERSIGHT</a:t>
            </a:r>
          </a:p>
        </p:txBody>
      </p:sp>
      <p:sp>
        <p:nvSpPr>
          <p:cNvPr id="10" name="">
            <a:extLst xmlns:a="http://schemas.openxmlformats.org/drawingml/2006/main">
              <a:ext uri="{FF2B5EF4-FFF2-40B4-BE49-F238E27FC236}">
                <a16:creationId xmlns:a16="http://schemas.microsoft.com/office/drawing/2014/main" id="{F3E8D87D-FB2A-458D-95AB-25DAFF81831C}"/>
              </a:ext>
            </a:extLst>
          </p:cNvPr>
          <p:cNvSpPr>
            <a:spLocks xmlns:a="http://schemas.openxmlformats.org/drawingml/2006/main" noGrp="1"/>
          </p:cNvSpPr>
          <p:nvPr/>
        </p:nvSpPr>
        <p:spPr>
          <a:xfrm xmlns:a="http://schemas.openxmlformats.org/drawingml/2006/main">
            <a:off x="876300" y="3086100"/>
            <a:ext cx="10287000" cy="57150"/>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11" name="">
            <a:extLst xmlns:a="http://schemas.openxmlformats.org/drawingml/2006/main">
              <a:ext uri="{FF2B5EF4-FFF2-40B4-BE49-F238E27FC236}">
                <a16:creationId xmlns:a16="http://schemas.microsoft.com/office/drawing/2014/main" id="{D63FE86C-F8AD-46B8-821F-A6B18EEBCEA3}"/>
              </a:ext>
            </a:extLst>
          </p:cNvPr>
          <p:cNvSpPr>
            <a:spLocks xmlns:a="http://schemas.openxmlformats.org/drawingml/2006/main" noGrp="1"/>
          </p:cNvSpPr>
          <p:nvPr/>
        </p:nvSpPr>
        <p:spPr>
          <a:xfrm xmlns:a="http://schemas.openxmlformats.org/drawingml/2006/main">
            <a:off x="676275" y="2886075"/>
            <a:ext cx="400050" cy="4000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12" name="">
            <a:extLst xmlns:a="http://schemas.openxmlformats.org/drawingml/2006/main">
              <a:ext uri="{FF2B5EF4-FFF2-40B4-BE49-F238E27FC236}">
                <a16:creationId xmlns:a16="http://schemas.microsoft.com/office/drawing/2014/main" id="{0F98894C-6314-4090-AD6F-0E06335AB53F}"/>
              </a:ext>
            </a:extLst>
          </p:cNvPr>
          <p:cNvSpPr>
            <a:spLocks xmlns:a="http://schemas.openxmlformats.org/drawingml/2006/main" noGrp="1"/>
          </p:cNvSpPr>
          <p:nvPr/>
        </p:nvSpPr>
        <p:spPr>
          <a:xfrm xmlns:a="http://schemas.openxmlformats.org/drawingml/2006/main">
            <a:off x="1905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00" b="1">
                <a:solidFill>
                  <a:srgbClr val="16382E"/>
                </a:solidFill>
              </a:defRPr>
            </a:pPr>
            <a:r>
              <a:rPr sz="1200" b="1">
                <a:solidFill>
                  <a:srgbClr val="16382E"/>
                </a:solidFill>
              </a:rPr>
              <a:t>Member</a:t>
            </a:r>
          </a:p>
        </p:txBody>
      </p:sp>
      <p:sp>
        <p:nvSpPr>
          <p:cNvPr id="13" name="">
            <a:extLst xmlns:a="http://schemas.openxmlformats.org/drawingml/2006/main">
              <a:ext uri="{FF2B5EF4-FFF2-40B4-BE49-F238E27FC236}">
                <a16:creationId xmlns:a16="http://schemas.microsoft.com/office/drawing/2014/main" id="{CFEC28B9-4D05-4DEF-A1E5-872E3CD46185}"/>
              </a:ext>
            </a:extLst>
          </p:cNvPr>
          <p:cNvSpPr>
            <a:spLocks xmlns:a="http://schemas.openxmlformats.org/drawingml/2006/main" noGrp="1"/>
          </p:cNvSpPr>
          <p:nvPr/>
        </p:nvSpPr>
        <p:spPr>
          <a:xfrm xmlns:a="http://schemas.openxmlformats.org/drawingml/2006/main">
            <a:off x="2657475" y="2886075"/>
            <a:ext cx="400050" cy="400050"/>
          </a:xfrm>
          <a:prstGeom xmlns:a="http://schemas.openxmlformats.org/drawingml/2006/main" prst="ellipse">
            <a:avLst/>
          </a:prstGeom>
          <a:solidFill xmlns:a="http://schemas.openxmlformats.org/drawingml/2006/main">
            <a:srgbClr val="DDE9DF"/>
          </a:solidFill>
          <a:ln xmlns:a="http://schemas.openxmlformats.org/drawingml/2006/main">
            <a:solidFill>
              <a:srgbClr val="DDE9DF"/>
            </a:solidFill>
          </a:ln>
        </p:spPr>
      </p:sp>
      <p:sp>
        <p:nvSpPr>
          <p:cNvPr id="14" name="">
            <a:extLst xmlns:a="http://schemas.openxmlformats.org/drawingml/2006/main">
              <a:ext uri="{FF2B5EF4-FFF2-40B4-BE49-F238E27FC236}">
                <a16:creationId xmlns:a16="http://schemas.microsoft.com/office/drawing/2014/main" id="{C6689D6C-09BE-469D-A9C5-7F5231AF68D8}"/>
              </a:ext>
            </a:extLst>
          </p:cNvPr>
          <p:cNvSpPr>
            <a:spLocks xmlns:a="http://schemas.openxmlformats.org/drawingml/2006/main" noGrp="1"/>
          </p:cNvSpPr>
          <p:nvPr/>
        </p:nvSpPr>
        <p:spPr>
          <a:xfrm xmlns:a="http://schemas.openxmlformats.org/drawingml/2006/main">
            <a:off x="21717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00" b="1">
                <a:solidFill>
                  <a:srgbClr val="16382E"/>
                </a:solidFill>
              </a:defRPr>
            </a:pPr>
            <a:r>
              <a:rPr sz="1200" b="1">
                <a:solidFill>
                  <a:srgbClr val="16382E"/>
                </a:solidFill>
              </a:rPr>
              <a:t>Department</a:t>
            </a:r>
          </a:p>
          <a:p xmlns:a="http://schemas.openxmlformats.org/drawingml/2006/main">
            <a:pPr algn="ctr">
              <a:defRPr sz="1200" b="1">
                <a:solidFill>
                  <a:srgbClr val="16382E"/>
                </a:solidFill>
              </a:defRPr>
            </a:pPr>
            <a:r>
              <a:rPr sz="1200" b="1">
                <a:solidFill>
                  <a:srgbClr val="16382E"/>
                </a:solidFill>
              </a:rPr>
              <a:t>Leader</a:t>
            </a:r>
          </a:p>
        </p:txBody>
      </p:sp>
      <p:sp>
        <p:nvSpPr>
          <p:cNvPr id="15" name="">
            <a:extLst xmlns:a="http://schemas.openxmlformats.org/drawingml/2006/main">
              <a:ext uri="{FF2B5EF4-FFF2-40B4-BE49-F238E27FC236}">
                <a16:creationId xmlns:a16="http://schemas.microsoft.com/office/drawing/2014/main" id="{4ACC12D2-1541-4025-B95B-7A5EBFECFDF6}"/>
              </a:ext>
            </a:extLst>
          </p:cNvPr>
          <p:cNvSpPr>
            <a:spLocks xmlns:a="http://schemas.openxmlformats.org/drawingml/2006/main" noGrp="1"/>
          </p:cNvSpPr>
          <p:nvPr/>
        </p:nvSpPr>
        <p:spPr>
          <a:xfrm xmlns:a="http://schemas.openxmlformats.org/drawingml/2006/main">
            <a:off x="4638675" y="2886075"/>
            <a:ext cx="400050" cy="400050"/>
          </a:xfrm>
          <a:prstGeom xmlns:a="http://schemas.openxmlformats.org/drawingml/2006/main" prst="ellipse">
            <a:avLst/>
          </a:prstGeom>
          <a:solidFill xmlns:a="http://schemas.openxmlformats.org/drawingml/2006/main">
            <a:srgbClr val="DDE9DF"/>
          </a:solidFill>
          <a:ln xmlns:a="http://schemas.openxmlformats.org/drawingml/2006/main">
            <a:solidFill>
              <a:srgbClr val="DDE9DF"/>
            </a:solidFill>
          </a:ln>
        </p:spPr>
      </p:sp>
      <p:sp>
        <p:nvSpPr>
          <p:cNvPr id="16" name="">
            <a:extLst xmlns:a="http://schemas.openxmlformats.org/drawingml/2006/main">
              <a:ext uri="{FF2B5EF4-FFF2-40B4-BE49-F238E27FC236}">
                <a16:creationId xmlns:a16="http://schemas.microsoft.com/office/drawing/2014/main" id="{C4DC2194-D8CC-46D2-99FA-79A4F8093840}"/>
              </a:ext>
            </a:extLst>
          </p:cNvPr>
          <p:cNvSpPr>
            <a:spLocks xmlns:a="http://schemas.openxmlformats.org/drawingml/2006/main" noGrp="1"/>
          </p:cNvSpPr>
          <p:nvPr/>
        </p:nvSpPr>
        <p:spPr>
          <a:xfrm xmlns:a="http://schemas.openxmlformats.org/drawingml/2006/main">
            <a:off x="41529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00" b="1">
                <a:solidFill>
                  <a:srgbClr val="16382E"/>
                </a:solidFill>
              </a:defRPr>
            </a:pPr>
            <a:r>
              <a:rPr sz="1200" b="1">
                <a:solidFill>
                  <a:srgbClr val="16382E"/>
                </a:solidFill>
              </a:rPr>
              <a:t>Clerk</a:t>
            </a:r>
          </a:p>
        </p:txBody>
      </p:sp>
      <p:sp>
        <p:nvSpPr>
          <p:cNvPr id="17" name="">
            <a:extLst xmlns:a="http://schemas.openxmlformats.org/drawingml/2006/main">
              <a:ext uri="{FF2B5EF4-FFF2-40B4-BE49-F238E27FC236}">
                <a16:creationId xmlns:a16="http://schemas.microsoft.com/office/drawing/2014/main" id="{E3A561A6-C852-41C2-9A9B-87714F33D652}"/>
              </a:ext>
            </a:extLst>
          </p:cNvPr>
          <p:cNvSpPr>
            <a:spLocks xmlns:a="http://schemas.openxmlformats.org/drawingml/2006/main" noGrp="1"/>
          </p:cNvSpPr>
          <p:nvPr/>
        </p:nvSpPr>
        <p:spPr>
          <a:xfrm xmlns:a="http://schemas.openxmlformats.org/drawingml/2006/main">
            <a:off x="6619875" y="2886075"/>
            <a:ext cx="400050" cy="400050"/>
          </a:xfrm>
          <a:prstGeom xmlns:a="http://schemas.openxmlformats.org/drawingml/2006/main" prst="ellipse">
            <a:avLst/>
          </a:prstGeom>
          <a:solidFill xmlns:a="http://schemas.openxmlformats.org/drawingml/2006/main">
            <a:srgbClr val="DDE9DF"/>
          </a:solidFill>
          <a:ln xmlns:a="http://schemas.openxmlformats.org/drawingml/2006/main">
            <a:solidFill>
              <a:srgbClr val="DDE9DF"/>
            </a:solidFill>
          </a:ln>
        </p:spPr>
      </p:sp>
      <p:sp>
        <p:nvSpPr>
          <p:cNvPr id="18" name="">
            <a:extLst xmlns:a="http://schemas.openxmlformats.org/drawingml/2006/main">
              <a:ext uri="{FF2B5EF4-FFF2-40B4-BE49-F238E27FC236}">
                <a16:creationId xmlns:a16="http://schemas.microsoft.com/office/drawing/2014/main" id="{544914B8-F51C-490F-9469-A07488F5AE8D}"/>
              </a:ext>
            </a:extLst>
          </p:cNvPr>
          <p:cNvSpPr>
            <a:spLocks xmlns:a="http://schemas.openxmlformats.org/drawingml/2006/main" noGrp="1"/>
          </p:cNvSpPr>
          <p:nvPr/>
        </p:nvSpPr>
        <p:spPr>
          <a:xfrm xmlns:a="http://schemas.openxmlformats.org/drawingml/2006/main">
            <a:off x="61341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00" b="1">
                <a:solidFill>
                  <a:srgbClr val="16382E"/>
                </a:solidFill>
              </a:defRPr>
            </a:pPr>
            <a:r>
              <a:rPr sz="1200" b="1">
                <a:solidFill>
                  <a:srgbClr val="16382E"/>
                </a:solidFill>
              </a:rPr>
              <a:t>Treasurer</a:t>
            </a:r>
          </a:p>
        </p:txBody>
      </p:sp>
      <p:sp>
        <p:nvSpPr>
          <p:cNvPr id="19" name="">
            <a:extLst xmlns:a="http://schemas.openxmlformats.org/drawingml/2006/main">
              <a:ext uri="{FF2B5EF4-FFF2-40B4-BE49-F238E27FC236}">
                <a16:creationId xmlns:a16="http://schemas.microsoft.com/office/drawing/2014/main" id="{477B4961-C32A-4642-9E60-83C411060247}"/>
              </a:ext>
            </a:extLst>
          </p:cNvPr>
          <p:cNvSpPr>
            <a:spLocks xmlns:a="http://schemas.openxmlformats.org/drawingml/2006/main" noGrp="1"/>
          </p:cNvSpPr>
          <p:nvPr/>
        </p:nvSpPr>
        <p:spPr>
          <a:xfrm xmlns:a="http://schemas.openxmlformats.org/drawingml/2006/main">
            <a:off x="8601075" y="2886075"/>
            <a:ext cx="400050" cy="400050"/>
          </a:xfrm>
          <a:prstGeom xmlns:a="http://schemas.openxmlformats.org/drawingml/2006/main" prst="ellipse">
            <a:avLst/>
          </a:prstGeom>
          <a:solidFill xmlns:a="http://schemas.openxmlformats.org/drawingml/2006/main">
            <a:srgbClr val="DDE9DF"/>
          </a:solidFill>
          <a:ln xmlns:a="http://schemas.openxmlformats.org/drawingml/2006/main">
            <a:solidFill>
              <a:srgbClr val="DDE9DF"/>
            </a:solidFill>
          </a:ln>
        </p:spPr>
      </p:sp>
      <p:sp>
        <p:nvSpPr>
          <p:cNvPr id="20" name="">
            <a:extLst xmlns:a="http://schemas.openxmlformats.org/drawingml/2006/main">
              <a:ext uri="{FF2B5EF4-FFF2-40B4-BE49-F238E27FC236}">
                <a16:creationId xmlns:a16="http://schemas.microsoft.com/office/drawing/2014/main" id="{0CF1214A-5396-4B9E-92F6-F59A068D9815}"/>
              </a:ext>
            </a:extLst>
          </p:cNvPr>
          <p:cNvSpPr>
            <a:spLocks xmlns:a="http://schemas.openxmlformats.org/drawingml/2006/main" noGrp="1"/>
          </p:cNvSpPr>
          <p:nvPr/>
        </p:nvSpPr>
        <p:spPr>
          <a:xfrm xmlns:a="http://schemas.openxmlformats.org/drawingml/2006/main">
            <a:off x="81153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00" b="1">
                <a:solidFill>
                  <a:srgbClr val="16382E"/>
                </a:solidFill>
              </a:defRPr>
            </a:pPr>
            <a:r>
              <a:rPr sz="1200" b="1">
                <a:solidFill>
                  <a:srgbClr val="16382E"/>
                </a:solidFill>
              </a:rPr>
              <a:t>Pastor</a:t>
            </a:r>
          </a:p>
        </p:txBody>
      </p:sp>
      <p:sp>
        <p:nvSpPr>
          <p:cNvPr id="21" name="">
            <a:extLst xmlns:a="http://schemas.openxmlformats.org/drawingml/2006/main">
              <a:ext uri="{FF2B5EF4-FFF2-40B4-BE49-F238E27FC236}">
                <a16:creationId xmlns:a16="http://schemas.microsoft.com/office/drawing/2014/main" id="{864AE188-C9DC-47D1-936C-C18E0E2D02E0}"/>
              </a:ext>
            </a:extLst>
          </p:cNvPr>
          <p:cNvSpPr>
            <a:spLocks xmlns:a="http://schemas.openxmlformats.org/drawingml/2006/main" noGrp="1"/>
          </p:cNvSpPr>
          <p:nvPr/>
        </p:nvSpPr>
        <p:spPr>
          <a:xfrm xmlns:a="http://schemas.openxmlformats.org/drawingml/2006/main">
            <a:off x="10525125" y="2828925"/>
            <a:ext cx="514350" cy="5143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22" name="">
            <a:extLst xmlns:a="http://schemas.openxmlformats.org/drawingml/2006/main">
              <a:ext uri="{FF2B5EF4-FFF2-40B4-BE49-F238E27FC236}">
                <a16:creationId xmlns:a16="http://schemas.microsoft.com/office/drawing/2014/main" id="{D4460BF0-2941-4BD7-9DC1-8115A087B96B}"/>
              </a:ext>
            </a:extLst>
          </p:cNvPr>
          <p:cNvSpPr>
            <a:spLocks xmlns:a="http://schemas.openxmlformats.org/drawingml/2006/main" noGrp="1"/>
          </p:cNvSpPr>
          <p:nvPr/>
        </p:nvSpPr>
        <p:spPr>
          <a:xfrm xmlns:a="http://schemas.openxmlformats.org/drawingml/2006/main">
            <a:off x="10096500" y="3429000"/>
            <a:ext cx="1371600" cy="552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16382E"/>
                </a:solidFill>
              </a:defRPr>
            </a:pPr>
            <a:r>
              <a:rPr sz="1275" b="1">
                <a:solidFill>
                  <a:srgbClr val="16382E"/>
                </a:solidFill>
              </a:rPr>
              <a:t>Administrator</a:t>
            </a:r>
          </a:p>
        </p:txBody>
      </p:sp>
      <p:sp>
        <p:nvSpPr>
          <p:cNvPr id="23" name="">
            <a:extLst xmlns:a="http://schemas.openxmlformats.org/drawingml/2006/main">
              <a:ext uri="{FF2B5EF4-FFF2-40B4-BE49-F238E27FC236}">
                <a16:creationId xmlns:a16="http://schemas.microsoft.com/office/drawing/2014/main" id="{41F5CCBF-FCB4-487D-9789-A2BE317FB2AC}"/>
              </a:ext>
            </a:extLst>
          </p:cNvPr>
          <p:cNvSpPr>
            <a:spLocks xmlns:a="http://schemas.openxmlformats.org/drawingml/2006/main" noGrp="1"/>
          </p:cNvSpPr>
          <p:nvPr/>
        </p:nvSpPr>
        <p:spPr>
          <a:xfrm xmlns:a="http://schemas.openxmlformats.org/drawingml/2006/main">
            <a:off x="914400" y="4514850"/>
            <a:ext cx="10363200" cy="1162050"/>
          </a:xfrm>
          <a:prstGeom xmlns:a="http://schemas.openxmlformats.org/drawingml/2006/main" prst="roundRect">
            <a:avLst>
              <a:gd name="adj" fmla="val 16393"/>
            </a:avLst>
          </a:prstGeom>
          <a:solidFill xmlns:a="http://schemas.openxmlformats.org/drawingml/2006/main">
            <a:srgbClr val="FFFDFC"/>
          </a:solidFill>
          <a:ln xmlns:a="http://schemas.openxmlformats.org/drawingml/2006/main" w="9525">
            <a:solidFill>
              <a:srgbClr val="CBD6CF"/>
            </a:solidFill>
          </a:ln>
        </p:spPr>
      </p:sp>
      <p:sp>
        <p:nvSpPr>
          <p:cNvPr id="24" name="">
            <a:extLst xmlns:a="http://schemas.openxmlformats.org/drawingml/2006/main">
              <a:ext uri="{FF2B5EF4-FFF2-40B4-BE49-F238E27FC236}">
                <a16:creationId xmlns:a16="http://schemas.microsoft.com/office/drawing/2014/main" id="{C0D4AA10-471F-4668-806E-AB8171D9534F}"/>
              </a:ext>
            </a:extLst>
          </p:cNvPr>
          <p:cNvSpPr>
            <a:spLocks xmlns:a="http://schemas.openxmlformats.org/drawingml/2006/main" noGrp="1"/>
          </p:cNvSpPr>
          <p:nvPr/>
        </p:nvSpPr>
        <p:spPr>
          <a:xfrm xmlns:a="http://schemas.openxmlformats.org/drawingml/2006/main">
            <a:off x="1200150" y="4705350"/>
            <a:ext cx="200025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1">
                <a:solidFill>
                  <a:srgbClr val="1F5A43"/>
                </a:solidFill>
              </a:defRPr>
            </a:pPr>
            <a:r>
              <a:rPr sz="1275" b="1">
                <a:solidFill>
                  <a:srgbClr val="1F5A43"/>
                </a:solidFill>
              </a:rPr>
              <a:t>Three safe habits</a:t>
            </a:r>
          </a:p>
        </p:txBody>
      </p:sp>
      <p:sp>
        <p:nvSpPr>
          <p:cNvPr id="25" name="">
            <a:extLst xmlns:a="http://schemas.openxmlformats.org/drawingml/2006/main">
              <a:ext uri="{FF2B5EF4-FFF2-40B4-BE49-F238E27FC236}">
                <a16:creationId xmlns:a16="http://schemas.microsoft.com/office/drawing/2014/main" id="{20E3C9B9-7515-4EF8-ABDD-D4D8F279F986}"/>
              </a:ext>
            </a:extLst>
          </p:cNvPr>
          <p:cNvSpPr>
            <a:spLocks xmlns:a="http://schemas.openxmlformats.org/drawingml/2006/main" noGrp="1"/>
          </p:cNvSpPr>
          <p:nvPr/>
        </p:nvSpPr>
        <p:spPr>
          <a:xfrm xmlns:a="http://schemas.openxmlformats.org/drawingml/2006/main">
            <a:off x="1200150" y="5124450"/>
            <a:ext cx="283845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1">
                <a:solidFill>
                  <a:srgbClr val="16382E"/>
                </a:solidFill>
              </a:defRPr>
            </a:pPr>
            <a:r>
              <a:rPr sz="1425" b="1">
                <a:solidFill>
                  <a:srgbClr val="16382E"/>
                </a:solidFill>
              </a:rPr>
              <a:t>01  Use individual accounts</a:t>
            </a:r>
          </a:p>
        </p:txBody>
      </p:sp>
      <p:sp>
        <p:nvSpPr>
          <p:cNvPr id="26" name="">
            <a:extLst xmlns:a="http://schemas.openxmlformats.org/drawingml/2006/main">
              <a:ext uri="{FF2B5EF4-FFF2-40B4-BE49-F238E27FC236}">
                <a16:creationId xmlns:a16="http://schemas.microsoft.com/office/drawing/2014/main" id="{621601BB-1E01-412E-94E3-10DBBDDB8B24}"/>
              </a:ext>
            </a:extLst>
          </p:cNvPr>
          <p:cNvSpPr>
            <a:spLocks xmlns:a="http://schemas.openxmlformats.org/drawingml/2006/main" noGrp="1"/>
          </p:cNvSpPr>
          <p:nvPr/>
        </p:nvSpPr>
        <p:spPr>
          <a:xfrm xmlns:a="http://schemas.openxmlformats.org/drawingml/2006/main">
            <a:off x="4267200" y="5124450"/>
            <a:ext cx="33909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1">
                <a:solidFill>
                  <a:srgbClr val="16382E"/>
                </a:solidFill>
              </a:defRPr>
            </a:pPr>
            <a:r>
              <a:rPr sz="1425" b="1">
                <a:solidFill>
                  <a:srgbClr val="16382E"/>
                </a:solidFill>
              </a:rPr>
              <a:t>02  Match access to responsibility</a:t>
            </a:r>
          </a:p>
        </p:txBody>
      </p:sp>
      <p:sp>
        <p:nvSpPr>
          <p:cNvPr id="27" name="">
            <a:extLst xmlns:a="http://schemas.openxmlformats.org/drawingml/2006/main">
              <a:ext uri="{FF2B5EF4-FFF2-40B4-BE49-F238E27FC236}">
                <a16:creationId xmlns:a16="http://schemas.microsoft.com/office/drawing/2014/main" id="{21589683-7C29-4166-A9F1-887410CAE454}"/>
              </a:ext>
            </a:extLst>
          </p:cNvPr>
          <p:cNvSpPr>
            <a:spLocks xmlns:a="http://schemas.openxmlformats.org/drawingml/2006/main" noGrp="1"/>
          </p:cNvSpPr>
          <p:nvPr/>
        </p:nvSpPr>
        <p:spPr>
          <a:xfrm xmlns:a="http://schemas.openxmlformats.org/drawingml/2006/main">
            <a:off x="7962900" y="5124450"/>
            <a:ext cx="287655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1">
                <a:solidFill>
                  <a:srgbClr val="16382E"/>
                </a:solidFill>
              </a:defRPr>
            </a:pPr>
            <a:r>
              <a:rPr sz="1425" b="1">
                <a:solidFill>
                  <a:srgbClr val="16382E"/>
                </a:solidFill>
              </a:rPr>
              <a:t>03  Review access regularly</a:t>
            </a:r>
          </a:p>
        </p:txBody>
      </p:sp>
    </p:spTree>
    <p:transition spd="med" advClick="1">
      <p:fade/>
    </p:transition>
    <p:extLst>
      <p:ext uri="{BB962C8B-B14F-4D97-AF65-F5344CB8AC3E}">
        <p14:creationId xmlns:p14="http://schemas.microsoft.com/office/powerpoint/2010/main" val="1440618498"/>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1E84D7C-81C5-433F-A651-95872D6F6E7A}"/>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ADMINISTRATOR WORKSPACE</a:t>
            </a:r>
          </a:p>
        </p:txBody>
      </p:sp>
      <p:sp>
        <p:nvSpPr>
          <p:cNvPr id="2" name="">
            <a:extLst xmlns:a="http://schemas.openxmlformats.org/drawingml/2006/main">
              <a:ext uri="{FF2B5EF4-FFF2-40B4-BE49-F238E27FC236}">
                <a16:creationId xmlns:a16="http://schemas.microsoft.com/office/drawing/2014/main" id="{A013DBF1-AAFC-41B1-9C50-8F3D19A6E047}"/>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E26F82D9-5F6D-4C86-A0FC-0E3A0E8AFB5F}"/>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Start with the workspace anatomy</a:t>
            </a:r>
          </a:p>
        </p:txBody>
      </p:sp>
      <p:sp>
        <p:nvSpPr>
          <p:cNvPr id="4" name="">
            <a:extLst xmlns:a="http://schemas.openxmlformats.org/drawingml/2006/main">
              <a:ext uri="{FF2B5EF4-FFF2-40B4-BE49-F238E27FC236}">
                <a16:creationId xmlns:a16="http://schemas.microsoft.com/office/drawing/2014/main" id="{A7C821FA-697E-4621-9733-F1AF6466D2BF}"/>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The navigation gives you context; the central workspace is where church work happens.</a:t>
            </a:r>
          </a:p>
        </p:txBody>
      </p:sp>
      <p:sp>
        <p:nvSpPr>
          <p:cNvPr id="5" name="">
            <a:extLst xmlns:a="http://schemas.openxmlformats.org/drawingml/2006/main">
              <a:ext uri="{FF2B5EF4-FFF2-40B4-BE49-F238E27FC236}">
                <a16:creationId xmlns:a16="http://schemas.microsoft.com/office/drawing/2014/main" id="{6EA07BA2-3DCA-4351-B3AE-89EB8384190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1E525605-5993-4DA3-94C1-4144C7739A58}"/>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42F4BD81-5E7F-4459-A2C5-50616999E3D5}"/>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04</a:t>
            </a:r>
          </a:p>
        </p:txBody>
      </p:sp>
      <p:sp>
        <p:nvSpPr>
          <p:cNvPr id="8" name="">
            <a:extLst xmlns:a="http://schemas.openxmlformats.org/drawingml/2006/main">
              <a:ext uri="{FF2B5EF4-FFF2-40B4-BE49-F238E27FC236}">
                <a16:creationId xmlns:a16="http://schemas.microsoft.com/office/drawing/2014/main" id="{34B05CB7-4BAE-4DA6-B73B-2E01819CCB51}"/>
              </a:ext>
            </a:extLst>
          </p:cNvPr>
          <p:cNvSpPr>
            <a:spLocks xmlns:a="http://schemas.openxmlformats.org/drawingml/2006/main" noGrp="1"/>
          </p:cNvSpPr>
          <p:nvPr/>
        </p:nvSpPr>
        <p:spPr>
          <a:xfrm xmlns:a="http://schemas.openxmlformats.org/drawingml/2006/main">
            <a:off x="914400" y="2038350"/>
            <a:ext cx="10363200" cy="3857625"/>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BD6CF"/>
            </a:solidFill>
          </a:ln>
        </p:spPr>
      </p:sp>
      <p:sp>
        <p:nvSpPr>
          <p:cNvPr id="9" name="">
            <a:extLst xmlns:a="http://schemas.openxmlformats.org/drawingml/2006/main">
              <a:ext uri="{FF2B5EF4-FFF2-40B4-BE49-F238E27FC236}">
                <a16:creationId xmlns:a16="http://schemas.microsoft.com/office/drawing/2014/main" id="{98AC7A1B-C443-4DF5-A555-314AAA22E794}"/>
              </a:ext>
            </a:extLst>
          </p:cNvPr>
          <p:cNvSpPr>
            <a:spLocks xmlns:a="http://schemas.openxmlformats.org/drawingml/2006/main" noGrp="1"/>
          </p:cNvSpPr>
          <p:nvPr/>
        </p:nvSpPr>
        <p:spPr>
          <a:xfrm xmlns:a="http://schemas.openxmlformats.org/drawingml/2006/main">
            <a:off x="1009650" y="2133600"/>
            <a:ext cx="10172700" cy="3667125"/>
          </a:xfrm>
          <a:prstGeom xmlns:a="http://schemas.openxmlformats.org/drawingml/2006/main" prst="roundRect">
            <a:avLst>
              <a:gd name="adj" fmla="val 3117"/>
            </a:avLst>
          </a:prstGeom>
          <a:solidFill xmlns:a="http://schemas.openxmlformats.org/drawingml/2006/main">
            <a:srgbClr val="FFFDFC"/>
          </a:solidFill>
          <a:ln xmlns:a="http://schemas.openxmlformats.org/drawingml/2006/main">
            <a:solidFill>
              <a:srgbClr val="FFFDFC"/>
            </a:solidFill>
          </a:ln>
        </p:spPr>
      </p:sp>
      <p:sp>
        <p:nvSpPr>
          <p:cNvPr id="10" name="">
            <a:extLst xmlns:a="http://schemas.openxmlformats.org/drawingml/2006/main">
              <a:ext uri="{FF2B5EF4-FFF2-40B4-BE49-F238E27FC236}">
                <a16:creationId xmlns:a16="http://schemas.microsoft.com/office/drawing/2014/main" id="{E9810BC5-7B6A-4677-B0AE-821127FA5C15}"/>
              </a:ext>
            </a:extLst>
          </p:cNvPr>
          <p:cNvSpPr>
            <a:spLocks xmlns:a="http://schemas.openxmlformats.org/drawingml/2006/main" noGrp="1"/>
          </p:cNvSpPr>
          <p:nvPr/>
        </p:nvSpPr>
        <p:spPr>
          <a:xfrm xmlns:a="http://schemas.openxmlformats.org/drawingml/2006/main">
            <a:off x="1085850" y="2209800"/>
            <a:ext cx="1371600" cy="2857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11" name="">
            <a:extLst xmlns:a="http://schemas.openxmlformats.org/drawingml/2006/main">
              <a:ext uri="{FF2B5EF4-FFF2-40B4-BE49-F238E27FC236}">
                <a16:creationId xmlns:a16="http://schemas.microsoft.com/office/drawing/2014/main" id="{4CAB7B14-5D1F-413B-8F5D-BEF467F9FA12}"/>
              </a:ext>
            </a:extLst>
          </p:cNvPr>
          <p:cNvSpPr>
            <a:spLocks xmlns:a="http://schemas.openxmlformats.org/drawingml/2006/main" noGrp="1"/>
          </p:cNvSpPr>
          <p:nvPr/>
        </p:nvSpPr>
        <p:spPr>
          <a:xfrm xmlns:a="http://schemas.openxmlformats.org/drawingml/2006/main">
            <a:off x="1085850" y="2209800"/>
            <a:ext cx="1371600" cy="285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SANITIZED ADMIN VIEW</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35ddb334bfc4057"/>
          <a:srcRect xmlns:a="http://schemas.openxmlformats.org/drawingml/2006/main" l="0" t="25905" r="0" b="25905"/>
          <a:stretch xmlns:a="http://schemas.openxmlformats.org/drawingml/2006/main">
            <a:fillRect l="0" t="0" r="0" b="0"/>
          </a:stretch>
        </p:blipFill>
        <p:spPr>
          <a:xfrm xmlns:a="http://schemas.openxmlformats.org/drawingml/2006/main">
            <a:off x="1028700" y="2152650"/>
            <a:ext cx="10134600" cy="3629025"/>
          </a:xfrm>
          <a:prstGeom xmlns:a="http://schemas.openxmlformats.org/drawingml/2006/main" prst="roundRect">
            <a:avLst>
              <a:gd name="adj" fmla="val 3150"/>
            </a:avLst>
          </a:prstGeom>
        </p:spPr>
      </p:pic>
      <p:sp>
        <p:nvSpPr>
          <p:cNvPr id="13" name="">
            <a:extLst xmlns:a="http://schemas.openxmlformats.org/drawingml/2006/main">
              <a:ext uri="{FF2B5EF4-FFF2-40B4-BE49-F238E27FC236}">
                <a16:creationId xmlns:a16="http://schemas.microsoft.com/office/drawing/2014/main" id="{E45BF413-845A-4680-B4DD-528E94537BB2}"/>
              </a:ext>
            </a:extLst>
          </p:cNvPr>
          <p:cNvSpPr>
            <a:spLocks xmlns:a="http://schemas.openxmlformats.org/drawingml/2006/main" noGrp="1"/>
          </p:cNvSpPr>
          <p:nvPr/>
        </p:nvSpPr>
        <p:spPr>
          <a:xfrm xmlns:a="http://schemas.openxmlformats.org/drawingml/2006/main">
            <a:off x="1152525" y="2457450"/>
            <a:ext cx="2114550" cy="552450"/>
          </a:xfrm>
          <a:prstGeom xmlns:a="http://schemas.openxmlformats.org/drawingml/2006/main" prst="roundRect">
            <a:avLst>
              <a:gd name="adj" fmla="val 24138"/>
            </a:avLst>
          </a:prstGeom>
          <a:solidFill xmlns:a="http://schemas.openxmlformats.org/drawingml/2006/main">
            <a:srgbClr val="0E4434"/>
          </a:solidFill>
          <a:ln xmlns:a="http://schemas.openxmlformats.org/drawingml/2006/main">
            <a:solidFill>
              <a:srgbClr val="0E4434"/>
            </a:solidFill>
          </a:ln>
        </p:spPr>
      </p:sp>
      <p:sp>
        <p:nvSpPr>
          <p:cNvPr id="14" name="">
            <a:extLst xmlns:a="http://schemas.openxmlformats.org/drawingml/2006/main">
              <a:ext uri="{FF2B5EF4-FFF2-40B4-BE49-F238E27FC236}">
                <a16:creationId xmlns:a16="http://schemas.microsoft.com/office/drawing/2014/main" id="{2F4FE1A0-9188-42D8-8A10-A50F6885F0DE}"/>
              </a:ext>
            </a:extLst>
          </p:cNvPr>
          <p:cNvSpPr>
            <a:spLocks xmlns:a="http://schemas.openxmlformats.org/drawingml/2006/main" noGrp="1"/>
          </p:cNvSpPr>
          <p:nvPr/>
        </p:nvSpPr>
        <p:spPr>
          <a:xfrm xmlns:a="http://schemas.openxmlformats.org/drawingml/2006/main">
            <a:off x="1257300" y="2552700"/>
            <a:ext cx="361950" cy="3619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15" name="">
            <a:extLst xmlns:a="http://schemas.openxmlformats.org/drawingml/2006/main">
              <a:ext uri="{FF2B5EF4-FFF2-40B4-BE49-F238E27FC236}">
                <a16:creationId xmlns:a16="http://schemas.microsoft.com/office/drawing/2014/main" id="{B4AF62DC-6DE5-4D0C-BD36-07F0896D76D2}"/>
              </a:ext>
            </a:extLst>
          </p:cNvPr>
          <p:cNvSpPr>
            <a:spLocks xmlns:a="http://schemas.openxmlformats.org/drawingml/2006/main" noGrp="1"/>
          </p:cNvSpPr>
          <p:nvPr/>
        </p:nvSpPr>
        <p:spPr>
          <a:xfrm xmlns:a="http://schemas.openxmlformats.org/drawingml/2006/main">
            <a:off x="1257300" y="2552700"/>
            <a:ext cx="361950" cy="361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6" name="">
            <a:extLst xmlns:a="http://schemas.openxmlformats.org/drawingml/2006/main">
              <a:ext uri="{FF2B5EF4-FFF2-40B4-BE49-F238E27FC236}">
                <a16:creationId xmlns:a16="http://schemas.microsoft.com/office/drawing/2014/main" id="{DFE686A3-9E53-4275-8865-3825F106F2D4}"/>
              </a:ext>
            </a:extLst>
          </p:cNvPr>
          <p:cNvSpPr>
            <a:spLocks xmlns:a="http://schemas.openxmlformats.org/drawingml/2006/main" noGrp="1"/>
          </p:cNvSpPr>
          <p:nvPr/>
        </p:nvSpPr>
        <p:spPr>
          <a:xfrm xmlns:a="http://schemas.openxmlformats.org/drawingml/2006/main">
            <a:off x="1714500" y="2543175"/>
            <a:ext cx="1428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FFFFFF"/>
                </a:solidFill>
              </a:defRPr>
            </a:pPr>
            <a:r>
              <a:rPr sz="1050" b="1">
                <a:solidFill>
                  <a:srgbClr val="FFFFFF"/>
                </a:solidFill>
              </a:rPr>
              <a:t>Navigation by area</a:t>
            </a:r>
          </a:p>
        </p:txBody>
      </p:sp>
      <p:sp>
        <p:nvSpPr>
          <p:cNvPr id="17" name="">
            <a:extLst xmlns:a="http://schemas.openxmlformats.org/drawingml/2006/main">
              <a:ext uri="{FF2B5EF4-FFF2-40B4-BE49-F238E27FC236}">
                <a16:creationId xmlns:a16="http://schemas.microsoft.com/office/drawing/2014/main" id="{B5EA7DD7-5EB3-4F5C-85A8-84EF4CA836DC}"/>
              </a:ext>
            </a:extLst>
          </p:cNvPr>
          <p:cNvSpPr>
            <a:spLocks xmlns:a="http://schemas.openxmlformats.org/drawingml/2006/main" noGrp="1"/>
          </p:cNvSpPr>
          <p:nvPr/>
        </p:nvSpPr>
        <p:spPr>
          <a:xfrm xmlns:a="http://schemas.openxmlformats.org/drawingml/2006/main">
            <a:off x="4476750" y="2305050"/>
            <a:ext cx="2362200" cy="552450"/>
          </a:xfrm>
          <a:prstGeom xmlns:a="http://schemas.openxmlformats.org/drawingml/2006/main" prst="roundRect">
            <a:avLst>
              <a:gd name="adj" fmla="val 24138"/>
            </a:avLst>
          </a:prstGeom>
          <a:solidFill xmlns:a="http://schemas.openxmlformats.org/drawingml/2006/main">
            <a:srgbClr val="FFFDFC"/>
          </a:solidFill>
          <a:ln xmlns:a="http://schemas.openxmlformats.org/drawingml/2006/main" w="9525">
            <a:solidFill>
              <a:srgbClr val="1F5A43"/>
            </a:solidFill>
          </a:ln>
        </p:spPr>
      </p:sp>
      <p:sp>
        <p:nvSpPr>
          <p:cNvPr id="18" name="">
            <a:extLst xmlns:a="http://schemas.openxmlformats.org/drawingml/2006/main">
              <a:ext uri="{FF2B5EF4-FFF2-40B4-BE49-F238E27FC236}">
                <a16:creationId xmlns:a16="http://schemas.microsoft.com/office/drawing/2014/main" id="{A85CE8AB-C695-4E02-B193-233DB669FC59}"/>
              </a:ext>
            </a:extLst>
          </p:cNvPr>
          <p:cNvSpPr>
            <a:spLocks xmlns:a="http://schemas.openxmlformats.org/drawingml/2006/main" noGrp="1"/>
          </p:cNvSpPr>
          <p:nvPr/>
        </p:nvSpPr>
        <p:spPr>
          <a:xfrm xmlns:a="http://schemas.openxmlformats.org/drawingml/2006/main">
            <a:off x="4591050" y="2400300"/>
            <a:ext cx="361950" cy="3619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9" name="">
            <a:extLst xmlns:a="http://schemas.openxmlformats.org/drawingml/2006/main">
              <a:ext uri="{FF2B5EF4-FFF2-40B4-BE49-F238E27FC236}">
                <a16:creationId xmlns:a16="http://schemas.microsoft.com/office/drawing/2014/main" id="{E406ED76-E624-4F9E-9CB7-67B0006E3D90}"/>
              </a:ext>
            </a:extLst>
          </p:cNvPr>
          <p:cNvSpPr>
            <a:spLocks xmlns:a="http://schemas.openxmlformats.org/drawingml/2006/main" noGrp="1"/>
          </p:cNvSpPr>
          <p:nvPr/>
        </p:nvSpPr>
        <p:spPr>
          <a:xfrm xmlns:a="http://schemas.openxmlformats.org/drawingml/2006/main">
            <a:off x="4591050" y="2400300"/>
            <a:ext cx="361950" cy="361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20" name="">
            <a:extLst xmlns:a="http://schemas.openxmlformats.org/drawingml/2006/main">
              <a:ext uri="{FF2B5EF4-FFF2-40B4-BE49-F238E27FC236}">
                <a16:creationId xmlns:a16="http://schemas.microsoft.com/office/drawing/2014/main" id="{8BE3B26F-A3FE-42E3-BD1B-E4E8107470C7}"/>
              </a:ext>
            </a:extLst>
          </p:cNvPr>
          <p:cNvSpPr>
            <a:spLocks xmlns:a="http://schemas.openxmlformats.org/drawingml/2006/main" noGrp="1"/>
          </p:cNvSpPr>
          <p:nvPr/>
        </p:nvSpPr>
        <p:spPr>
          <a:xfrm xmlns:a="http://schemas.openxmlformats.org/drawingml/2006/main">
            <a:off x="5048250" y="2390775"/>
            <a:ext cx="16573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16382E"/>
                </a:solidFill>
              </a:defRPr>
            </a:pPr>
            <a:r>
              <a:rPr sz="1050" b="1">
                <a:solidFill>
                  <a:srgbClr val="16382E"/>
                </a:solidFill>
              </a:rPr>
              <a:t>Tabs and live controls</a:t>
            </a:r>
          </a:p>
        </p:txBody>
      </p:sp>
      <p:sp>
        <p:nvSpPr>
          <p:cNvPr id="21" name="">
            <a:extLst xmlns:a="http://schemas.openxmlformats.org/drawingml/2006/main">
              <a:ext uri="{FF2B5EF4-FFF2-40B4-BE49-F238E27FC236}">
                <a16:creationId xmlns:a16="http://schemas.microsoft.com/office/drawing/2014/main" id="{DA687E81-1D02-42C4-A96A-D5B0F50DE164}"/>
              </a:ext>
            </a:extLst>
          </p:cNvPr>
          <p:cNvSpPr>
            <a:spLocks xmlns:a="http://schemas.openxmlformats.org/drawingml/2006/main" noGrp="1"/>
          </p:cNvSpPr>
          <p:nvPr/>
        </p:nvSpPr>
        <p:spPr>
          <a:xfrm xmlns:a="http://schemas.openxmlformats.org/drawingml/2006/main">
            <a:off x="8315325" y="5124450"/>
            <a:ext cx="2686050" cy="552450"/>
          </a:xfrm>
          <a:prstGeom xmlns:a="http://schemas.openxmlformats.org/drawingml/2006/main" prst="roundRect">
            <a:avLst>
              <a:gd name="adj" fmla="val 24138"/>
            </a:avLst>
          </a:prstGeom>
          <a:solidFill xmlns:a="http://schemas.openxmlformats.org/drawingml/2006/main">
            <a:srgbClr val="FFFDFC"/>
          </a:solidFill>
          <a:ln xmlns:a="http://schemas.openxmlformats.org/drawingml/2006/main" w="9525">
            <a:solidFill>
              <a:srgbClr val="C69A3B"/>
            </a:solidFill>
          </a:ln>
        </p:spPr>
      </p:sp>
      <p:sp>
        <p:nvSpPr>
          <p:cNvPr id="22" name="">
            <a:extLst xmlns:a="http://schemas.openxmlformats.org/drawingml/2006/main">
              <a:ext uri="{FF2B5EF4-FFF2-40B4-BE49-F238E27FC236}">
                <a16:creationId xmlns:a16="http://schemas.microsoft.com/office/drawing/2014/main" id="{E9B05FA7-17F6-4689-92F8-59F2BC481247}"/>
              </a:ext>
            </a:extLst>
          </p:cNvPr>
          <p:cNvSpPr>
            <a:spLocks xmlns:a="http://schemas.openxmlformats.org/drawingml/2006/main" noGrp="1"/>
          </p:cNvSpPr>
          <p:nvPr/>
        </p:nvSpPr>
        <p:spPr>
          <a:xfrm xmlns:a="http://schemas.openxmlformats.org/drawingml/2006/main">
            <a:off x="8429625" y="5219700"/>
            <a:ext cx="361950" cy="3619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23" name="">
            <a:extLst xmlns:a="http://schemas.openxmlformats.org/drawingml/2006/main">
              <a:ext uri="{FF2B5EF4-FFF2-40B4-BE49-F238E27FC236}">
                <a16:creationId xmlns:a16="http://schemas.microsoft.com/office/drawing/2014/main" id="{C3004FFC-AE92-4184-9BDF-F194E1D18767}"/>
              </a:ext>
            </a:extLst>
          </p:cNvPr>
          <p:cNvSpPr>
            <a:spLocks xmlns:a="http://schemas.openxmlformats.org/drawingml/2006/main" noGrp="1"/>
          </p:cNvSpPr>
          <p:nvPr/>
        </p:nvSpPr>
        <p:spPr>
          <a:xfrm xmlns:a="http://schemas.openxmlformats.org/drawingml/2006/main">
            <a:off x="8429625" y="5219700"/>
            <a:ext cx="361950" cy="361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24" name="">
            <a:extLst xmlns:a="http://schemas.openxmlformats.org/drawingml/2006/main">
              <a:ext uri="{FF2B5EF4-FFF2-40B4-BE49-F238E27FC236}">
                <a16:creationId xmlns:a16="http://schemas.microsoft.com/office/drawing/2014/main" id="{F6B6D191-1C10-4559-8892-2913C23C6644}"/>
              </a:ext>
            </a:extLst>
          </p:cNvPr>
          <p:cNvSpPr>
            <a:spLocks xmlns:a="http://schemas.openxmlformats.org/drawingml/2006/main" noGrp="1"/>
          </p:cNvSpPr>
          <p:nvPr/>
        </p:nvSpPr>
        <p:spPr>
          <a:xfrm xmlns:a="http://schemas.openxmlformats.org/drawingml/2006/main">
            <a:off x="8886825" y="5210175"/>
            <a:ext cx="19621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16382E"/>
                </a:solidFill>
              </a:defRPr>
            </a:pPr>
            <a:r>
              <a:rPr sz="1050" b="1">
                <a:solidFill>
                  <a:srgbClr val="16382E"/>
                </a:solidFill>
              </a:rPr>
              <a:t>Live status + totals</a:t>
            </a:r>
          </a:p>
        </p:txBody>
      </p:sp>
    </p:spTree>
    <p:transition spd="med" advClick="1">
      <p:fade/>
    </p:transition>
    <p:extLst>
      <p:ext uri="{BB962C8B-B14F-4D97-AF65-F5344CB8AC3E}">
        <p14:creationId xmlns:p14="http://schemas.microsoft.com/office/powerpoint/2010/main" val="2114187492"/>
      </p:ext>
    </p:extLst>
  </p:cSld>
</p:sld>
</file>

<file path=ppt/slides/slide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D688F38-4656-4AF6-81C6-7F30F6F3556B}"/>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ADMINISTRATOR TUTORIAL</a:t>
            </a:r>
          </a:p>
        </p:txBody>
      </p:sp>
      <p:sp>
        <p:nvSpPr>
          <p:cNvPr id="2" name="">
            <a:extLst xmlns:a="http://schemas.openxmlformats.org/drawingml/2006/main">
              <a:ext uri="{FF2B5EF4-FFF2-40B4-BE49-F238E27FC236}">
                <a16:creationId xmlns:a16="http://schemas.microsoft.com/office/drawing/2014/main" id="{F7A89B71-C6F4-47D6-8AA9-7CE38A76A62D}"/>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4CEE48BC-4EFD-40AF-975E-5ED2F8E38EFF}"/>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People and households: find, open, review</a:t>
            </a:r>
          </a:p>
        </p:txBody>
      </p:sp>
      <p:sp>
        <p:nvSpPr>
          <p:cNvPr id="4" name="">
            <a:extLst xmlns:a="http://schemas.openxmlformats.org/drawingml/2006/main">
              <a:ext uri="{FF2B5EF4-FFF2-40B4-BE49-F238E27FC236}">
                <a16:creationId xmlns:a16="http://schemas.microsoft.com/office/drawing/2014/main" id="{B3F456B9-1572-464B-9523-37FDA9B10A5C}"/>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Use the registry for the person; use the household view for the family context.</a:t>
            </a:r>
          </a:p>
        </p:txBody>
      </p:sp>
      <p:sp>
        <p:nvSpPr>
          <p:cNvPr id="5" name="">
            <a:extLst xmlns:a="http://schemas.openxmlformats.org/drawingml/2006/main">
              <a:ext uri="{FF2B5EF4-FFF2-40B4-BE49-F238E27FC236}">
                <a16:creationId xmlns:a16="http://schemas.microsoft.com/office/drawing/2014/main" id="{69FEE6F8-9E24-44C2-8B5E-1F6D47E6F39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DB299C3B-394F-4194-A5E6-9C60D37435F6}"/>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14AE6265-B505-4734-B9EE-34A63E9BD509}"/>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05</a:t>
            </a:r>
          </a:p>
        </p:txBody>
      </p:sp>
      <p:sp>
        <p:nvSpPr>
          <p:cNvPr id="8" name="">
            <a:extLst xmlns:a="http://schemas.openxmlformats.org/drawingml/2006/main">
              <a:ext uri="{FF2B5EF4-FFF2-40B4-BE49-F238E27FC236}">
                <a16:creationId xmlns:a16="http://schemas.microsoft.com/office/drawing/2014/main" id="{D3ACF911-2F8A-4407-A683-01D1364619B1}"/>
              </a:ext>
            </a:extLst>
          </p:cNvPr>
          <p:cNvSpPr>
            <a:spLocks xmlns:a="http://schemas.openxmlformats.org/drawingml/2006/main" noGrp="1"/>
          </p:cNvSpPr>
          <p:nvPr/>
        </p:nvSpPr>
        <p:spPr>
          <a:xfrm xmlns:a="http://schemas.openxmlformats.org/drawingml/2006/main">
            <a:off x="2857500" y="3286125"/>
            <a:ext cx="514350" cy="47625"/>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9" name="">
            <a:extLst xmlns:a="http://schemas.openxmlformats.org/drawingml/2006/main">
              <a:ext uri="{FF2B5EF4-FFF2-40B4-BE49-F238E27FC236}">
                <a16:creationId xmlns:a16="http://schemas.microsoft.com/office/drawing/2014/main" id="{2A3B4B8A-2090-4F3C-B9A5-E1BDD1F173D4}"/>
              </a:ext>
            </a:extLst>
          </p:cNvPr>
          <p:cNvSpPr>
            <a:spLocks xmlns:a="http://schemas.openxmlformats.org/drawingml/2006/main" noGrp="1"/>
          </p:cNvSpPr>
          <p:nvPr/>
        </p:nvSpPr>
        <p:spPr>
          <a:xfrm xmlns:a="http://schemas.openxmlformats.org/drawingml/2006/main">
            <a:off x="819150" y="2914650"/>
            <a:ext cx="476250" cy="4762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0" name="">
            <a:extLst xmlns:a="http://schemas.openxmlformats.org/drawingml/2006/main">
              <a:ext uri="{FF2B5EF4-FFF2-40B4-BE49-F238E27FC236}">
                <a16:creationId xmlns:a16="http://schemas.microsoft.com/office/drawing/2014/main" id="{80D2E481-B552-45DB-95A8-727FA0AB51EF}"/>
              </a:ext>
            </a:extLst>
          </p:cNvPr>
          <p:cNvSpPr>
            <a:spLocks xmlns:a="http://schemas.openxmlformats.org/drawingml/2006/main" noGrp="1"/>
          </p:cNvSpPr>
          <p:nvPr/>
        </p:nvSpPr>
        <p:spPr>
          <a:xfrm xmlns:a="http://schemas.openxmlformats.org/drawingml/2006/main">
            <a:off x="819150" y="2914650"/>
            <a:ext cx="476250" cy="4762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1" name="">
            <a:extLst xmlns:a="http://schemas.openxmlformats.org/drawingml/2006/main">
              <a:ext uri="{FF2B5EF4-FFF2-40B4-BE49-F238E27FC236}">
                <a16:creationId xmlns:a16="http://schemas.microsoft.com/office/drawing/2014/main" id="{94D78381-2EC5-4C67-AD92-7CA72E53628F}"/>
              </a:ext>
            </a:extLst>
          </p:cNvPr>
          <p:cNvSpPr>
            <a:spLocks xmlns:a="http://schemas.openxmlformats.org/drawingml/2006/main" noGrp="1"/>
          </p:cNvSpPr>
          <p:nvPr/>
        </p:nvSpPr>
        <p:spPr>
          <a:xfrm xmlns:a="http://schemas.openxmlformats.org/drawingml/2006/main">
            <a:off x="781050" y="3600450"/>
            <a:ext cx="213360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Open Members</a:t>
            </a:r>
          </a:p>
        </p:txBody>
      </p:sp>
      <p:sp>
        <p:nvSpPr>
          <p:cNvPr id="12" name="">
            <a:extLst xmlns:a="http://schemas.openxmlformats.org/drawingml/2006/main">
              <a:ext uri="{FF2B5EF4-FFF2-40B4-BE49-F238E27FC236}">
                <a16:creationId xmlns:a16="http://schemas.microsoft.com/office/drawing/2014/main" id="{7ED56A0F-8B3D-4A91-BDC8-2F2EC5105664}"/>
              </a:ext>
            </a:extLst>
          </p:cNvPr>
          <p:cNvSpPr>
            <a:spLocks xmlns:a="http://schemas.openxmlformats.org/drawingml/2006/main" noGrp="1"/>
          </p:cNvSpPr>
          <p:nvPr/>
        </p:nvSpPr>
        <p:spPr>
          <a:xfrm xmlns:a="http://schemas.openxmlformats.org/drawingml/2006/main">
            <a:off x="781050" y="4095750"/>
            <a:ext cx="21336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Choose People → Members.</a:t>
            </a:r>
          </a:p>
        </p:txBody>
      </p:sp>
      <p:sp>
        <p:nvSpPr>
          <p:cNvPr id="13" name="">
            <a:extLst xmlns:a="http://schemas.openxmlformats.org/drawingml/2006/main">
              <a:ext uri="{FF2B5EF4-FFF2-40B4-BE49-F238E27FC236}">
                <a16:creationId xmlns:a16="http://schemas.microsoft.com/office/drawing/2014/main" id="{3370DDA8-D5AE-41AE-83D2-4AC77EE05C41}"/>
              </a:ext>
            </a:extLst>
          </p:cNvPr>
          <p:cNvSpPr>
            <a:spLocks xmlns:a="http://schemas.openxmlformats.org/drawingml/2006/main" noGrp="1"/>
          </p:cNvSpPr>
          <p:nvPr/>
        </p:nvSpPr>
        <p:spPr>
          <a:xfrm xmlns:a="http://schemas.openxmlformats.org/drawingml/2006/main">
            <a:off x="5486400" y="3286125"/>
            <a:ext cx="514350" cy="47625"/>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14" name="">
            <a:extLst xmlns:a="http://schemas.openxmlformats.org/drawingml/2006/main">
              <a:ext uri="{FF2B5EF4-FFF2-40B4-BE49-F238E27FC236}">
                <a16:creationId xmlns:a16="http://schemas.microsoft.com/office/drawing/2014/main" id="{792A4906-6E36-48EA-A26B-9357A02911DF}"/>
              </a:ext>
            </a:extLst>
          </p:cNvPr>
          <p:cNvSpPr>
            <a:spLocks xmlns:a="http://schemas.openxmlformats.org/drawingml/2006/main" noGrp="1"/>
          </p:cNvSpPr>
          <p:nvPr/>
        </p:nvSpPr>
        <p:spPr>
          <a:xfrm xmlns:a="http://schemas.openxmlformats.org/drawingml/2006/main">
            <a:off x="3448050" y="2914650"/>
            <a:ext cx="476250" cy="4762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5" name="">
            <a:extLst xmlns:a="http://schemas.openxmlformats.org/drawingml/2006/main">
              <a:ext uri="{FF2B5EF4-FFF2-40B4-BE49-F238E27FC236}">
                <a16:creationId xmlns:a16="http://schemas.microsoft.com/office/drawing/2014/main" id="{646A72D6-12AC-480C-8A72-B7D367A660DE}"/>
              </a:ext>
            </a:extLst>
          </p:cNvPr>
          <p:cNvSpPr>
            <a:spLocks xmlns:a="http://schemas.openxmlformats.org/drawingml/2006/main" noGrp="1"/>
          </p:cNvSpPr>
          <p:nvPr/>
        </p:nvSpPr>
        <p:spPr>
          <a:xfrm xmlns:a="http://schemas.openxmlformats.org/drawingml/2006/main">
            <a:off x="3448050" y="2914650"/>
            <a:ext cx="476250" cy="4762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6" name="">
            <a:extLst xmlns:a="http://schemas.openxmlformats.org/drawingml/2006/main">
              <a:ext uri="{FF2B5EF4-FFF2-40B4-BE49-F238E27FC236}">
                <a16:creationId xmlns:a16="http://schemas.microsoft.com/office/drawing/2014/main" id="{48433E6C-25EA-4606-99EA-38724AB560E9}"/>
              </a:ext>
            </a:extLst>
          </p:cNvPr>
          <p:cNvSpPr>
            <a:spLocks xmlns:a="http://schemas.openxmlformats.org/drawingml/2006/main" noGrp="1"/>
          </p:cNvSpPr>
          <p:nvPr/>
        </p:nvSpPr>
        <p:spPr>
          <a:xfrm xmlns:a="http://schemas.openxmlformats.org/drawingml/2006/main">
            <a:off x="3409950" y="3600450"/>
            <a:ext cx="213360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Search or filter</a:t>
            </a:r>
          </a:p>
        </p:txBody>
      </p:sp>
      <p:sp>
        <p:nvSpPr>
          <p:cNvPr id="17" name="">
            <a:extLst xmlns:a="http://schemas.openxmlformats.org/drawingml/2006/main">
              <a:ext uri="{FF2B5EF4-FFF2-40B4-BE49-F238E27FC236}">
                <a16:creationId xmlns:a16="http://schemas.microsoft.com/office/drawing/2014/main" id="{D3730D93-5C9F-49C5-9365-3187B79F6C4A}"/>
              </a:ext>
            </a:extLst>
          </p:cNvPr>
          <p:cNvSpPr>
            <a:spLocks xmlns:a="http://schemas.openxmlformats.org/drawingml/2006/main" noGrp="1"/>
          </p:cNvSpPr>
          <p:nvPr/>
        </p:nvSpPr>
        <p:spPr>
          <a:xfrm xmlns:a="http://schemas.openxmlformats.org/drawingml/2006/main">
            <a:off x="3409950" y="4095750"/>
            <a:ext cx="21336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Use name, status, or ministry context.</a:t>
            </a:r>
          </a:p>
        </p:txBody>
      </p:sp>
      <p:sp>
        <p:nvSpPr>
          <p:cNvPr id="18" name="">
            <a:extLst xmlns:a="http://schemas.openxmlformats.org/drawingml/2006/main">
              <a:ext uri="{FF2B5EF4-FFF2-40B4-BE49-F238E27FC236}">
                <a16:creationId xmlns:a16="http://schemas.microsoft.com/office/drawing/2014/main" id="{6A2DC3D0-9CBA-4E5D-8580-CCFEEBA5D289}"/>
              </a:ext>
            </a:extLst>
          </p:cNvPr>
          <p:cNvSpPr>
            <a:spLocks xmlns:a="http://schemas.openxmlformats.org/drawingml/2006/main" noGrp="1"/>
          </p:cNvSpPr>
          <p:nvPr/>
        </p:nvSpPr>
        <p:spPr>
          <a:xfrm xmlns:a="http://schemas.openxmlformats.org/drawingml/2006/main">
            <a:off x="8115300" y="3286125"/>
            <a:ext cx="514350" cy="47625"/>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19" name="">
            <a:extLst xmlns:a="http://schemas.openxmlformats.org/drawingml/2006/main">
              <a:ext uri="{FF2B5EF4-FFF2-40B4-BE49-F238E27FC236}">
                <a16:creationId xmlns:a16="http://schemas.microsoft.com/office/drawing/2014/main" id="{DAB9FAE8-F99B-4AD1-80C9-71540767E992}"/>
              </a:ext>
            </a:extLst>
          </p:cNvPr>
          <p:cNvSpPr>
            <a:spLocks xmlns:a="http://schemas.openxmlformats.org/drawingml/2006/main" noGrp="1"/>
          </p:cNvSpPr>
          <p:nvPr/>
        </p:nvSpPr>
        <p:spPr>
          <a:xfrm xmlns:a="http://schemas.openxmlformats.org/drawingml/2006/main">
            <a:off x="6076950" y="2914650"/>
            <a:ext cx="476250" cy="4762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20" name="">
            <a:extLst xmlns:a="http://schemas.openxmlformats.org/drawingml/2006/main">
              <a:ext uri="{FF2B5EF4-FFF2-40B4-BE49-F238E27FC236}">
                <a16:creationId xmlns:a16="http://schemas.microsoft.com/office/drawing/2014/main" id="{D31AA3F3-97F3-4677-A96D-1C9A1F36EC77}"/>
              </a:ext>
            </a:extLst>
          </p:cNvPr>
          <p:cNvSpPr>
            <a:spLocks xmlns:a="http://schemas.openxmlformats.org/drawingml/2006/main" noGrp="1"/>
          </p:cNvSpPr>
          <p:nvPr/>
        </p:nvSpPr>
        <p:spPr>
          <a:xfrm xmlns:a="http://schemas.openxmlformats.org/drawingml/2006/main">
            <a:off x="6076950" y="2914650"/>
            <a:ext cx="476250" cy="4762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21" name="">
            <a:extLst xmlns:a="http://schemas.openxmlformats.org/drawingml/2006/main">
              <a:ext uri="{FF2B5EF4-FFF2-40B4-BE49-F238E27FC236}">
                <a16:creationId xmlns:a16="http://schemas.microsoft.com/office/drawing/2014/main" id="{CBA47CB4-A8E6-4F44-8403-94EAC82CF215}"/>
              </a:ext>
            </a:extLst>
          </p:cNvPr>
          <p:cNvSpPr>
            <a:spLocks xmlns:a="http://schemas.openxmlformats.org/drawingml/2006/main" noGrp="1"/>
          </p:cNvSpPr>
          <p:nvPr/>
        </p:nvSpPr>
        <p:spPr>
          <a:xfrm xmlns:a="http://schemas.openxmlformats.org/drawingml/2006/main">
            <a:off x="6038850" y="3600450"/>
            <a:ext cx="213360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Open the record</a:t>
            </a:r>
          </a:p>
        </p:txBody>
      </p:sp>
      <p:sp>
        <p:nvSpPr>
          <p:cNvPr id="22" name="">
            <a:extLst xmlns:a="http://schemas.openxmlformats.org/drawingml/2006/main">
              <a:ext uri="{FF2B5EF4-FFF2-40B4-BE49-F238E27FC236}">
                <a16:creationId xmlns:a16="http://schemas.microsoft.com/office/drawing/2014/main" id="{E828A38E-7202-450C-87BF-C560E3916716}"/>
              </a:ext>
            </a:extLst>
          </p:cNvPr>
          <p:cNvSpPr>
            <a:spLocks xmlns:a="http://schemas.openxmlformats.org/drawingml/2006/main" noGrp="1"/>
          </p:cNvSpPr>
          <p:nvPr/>
        </p:nvSpPr>
        <p:spPr>
          <a:xfrm xmlns:a="http://schemas.openxmlformats.org/drawingml/2006/main">
            <a:off x="6038850" y="4095750"/>
            <a:ext cx="21336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Review details before making changes.</a:t>
            </a:r>
          </a:p>
        </p:txBody>
      </p:sp>
      <p:sp>
        <p:nvSpPr>
          <p:cNvPr id="23" name="">
            <a:extLst xmlns:a="http://schemas.openxmlformats.org/drawingml/2006/main">
              <a:ext uri="{FF2B5EF4-FFF2-40B4-BE49-F238E27FC236}">
                <a16:creationId xmlns:a16="http://schemas.microsoft.com/office/drawing/2014/main" id="{D19DE84B-E440-4E08-AF9B-960746568FED}"/>
              </a:ext>
            </a:extLst>
          </p:cNvPr>
          <p:cNvSpPr>
            <a:spLocks xmlns:a="http://schemas.openxmlformats.org/drawingml/2006/main" noGrp="1"/>
          </p:cNvSpPr>
          <p:nvPr/>
        </p:nvSpPr>
        <p:spPr>
          <a:xfrm xmlns:a="http://schemas.openxmlformats.org/drawingml/2006/main">
            <a:off x="8705850" y="2914650"/>
            <a:ext cx="476250" cy="4762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24" name="">
            <a:extLst xmlns:a="http://schemas.openxmlformats.org/drawingml/2006/main">
              <a:ext uri="{FF2B5EF4-FFF2-40B4-BE49-F238E27FC236}">
                <a16:creationId xmlns:a16="http://schemas.microsoft.com/office/drawing/2014/main" id="{06F83762-1E76-4489-BE72-DB660BC4233B}"/>
              </a:ext>
            </a:extLst>
          </p:cNvPr>
          <p:cNvSpPr>
            <a:spLocks xmlns:a="http://schemas.openxmlformats.org/drawingml/2006/main" noGrp="1"/>
          </p:cNvSpPr>
          <p:nvPr/>
        </p:nvSpPr>
        <p:spPr>
          <a:xfrm xmlns:a="http://schemas.openxmlformats.org/drawingml/2006/main">
            <a:off x="8705850" y="2914650"/>
            <a:ext cx="476250" cy="4762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5" name="">
            <a:extLst xmlns:a="http://schemas.openxmlformats.org/drawingml/2006/main">
              <a:ext uri="{FF2B5EF4-FFF2-40B4-BE49-F238E27FC236}">
                <a16:creationId xmlns:a16="http://schemas.microsoft.com/office/drawing/2014/main" id="{0D3A4937-A644-4A59-BAD2-24A13A8462A5}"/>
              </a:ext>
            </a:extLst>
          </p:cNvPr>
          <p:cNvSpPr>
            <a:spLocks xmlns:a="http://schemas.openxmlformats.org/drawingml/2006/main" noGrp="1"/>
          </p:cNvSpPr>
          <p:nvPr/>
        </p:nvSpPr>
        <p:spPr>
          <a:xfrm xmlns:a="http://schemas.openxmlformats.org/drawingml/2006/main">
            <a:off x="8667750" y="3600450"/>
            <a:ext cx="213360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Check household</a:t>
            </a:r>
          </a:p>
        </p:txBody>
      </p:sp>
      <p:sp>
        <p:nvSpPr>
          <p:cNvPr id="26" name="">
            <a:extLst xmlns:a="http://schemas.openxmlformats.org/drawingml/2006/main">
              <a:ext uri="{FF2B5EF4-FFF2-40B4-BE49-F238E27FC236}">
                <a16:creationId xmlns:a16="http://schemas.microsoft.com/office/drawing/2014/main" id="{C254E4BF-47CE-4EE2-BB34-D23AED15066B}"/>
              </a:ext>
            </a:extLst>
          </p:cNvPr>
          <p:cNvSpPr>
            <a:spLocks xmlns:a="http://schemas.openxmlformats.org/drawingml/2006/main" noGrp="1"/>
          </p:cNvSpPr>
          <p:nvPr/>
        </p:nvSpPr>
        <p:spPr>
          <a:xfrm xmlns:a="http://schemas.openxmlformats.org/drawingml/2006/main">
            <a:off x="8667750" y="4095750"/>
            <a:ext cx="21336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Confirm family and relationship context.</a:t>
            </a:r>
          </a:p>
        </p:txBody>
      </p:sp>
      <p:sp>
        <p:nvSpPr>
          <p:cNvPr id="27" name="">
            <a:extLst xmlns:a="http://schemas.openxmlformats.org/drawingml/2006/main">
              <a:ext uri="{FF2B5EF4-FFF2-40B4-BE49-F238E27FC236}">
                <a16:creationId xmlns:a16="http://schemas.microsoft.com/office/drawing/2014/main" id="{CF3FCFEF-3DAB-49C5-BB38-F07AADCF1C78}"/>
              </a:ext>
            </a:extLst>
          </p:cNvPr>
          <p:cNvSpPr>
            <a:spLocks xmlns:a="http://schemas.openxmlformats.org/drawingml/2006/main" noGrp="1"/>
          </p:cNvSpPr>
          <p:nvPr/>
        </p:nvSpPr>
        <p:spPr>
          <a:xfrm xmlns:a="http://schemas.openxmlformats.org/drawingml/2006/main">
            <a:off x="781050" y="5181600"/>
            <a:ext cx="10553700" cy="781050"/>
          </a:xfrm>
          <a:prstGeom xmlns:a="http://schemas.openxmlformats.org/drawingml/2006/main" prst="roundRect">
            <a:avLst>
              <a:gd name="adj" fmla="val 21951"/>
            </a:avLst>
          </a:prstGeom>
          <a:solidFill xmlns:a="http://schemas.openxmlformats.org/drawingml/2006/main">
            <a:srgbClr val="DDE9DF"/>
          </a:solidFill>
          <a:ln xmlns:a="http://schemas.openxmlformats.org/drawingml/2006/main">
            <a:solidFill>
              <a:srgbClr val="DDE9DF"/>
            </a:solidFill>
          </a:ln>
        </p:spPr>
      </p:sp>
      <p:sp>
        <p:nvSpPr>
          <p:cNvPr id="28" name="">
            <a:extLst xmlns:a="http://schemas.openxmlformats.org/drawingml/2006/main">
              <a:ext uri="{FF2B5EF4-FFF2-40B4-BE49-F238E27FC236}">
                <a16:creationId xmlns:a16="http://schemas.microsoft.com/office/drawing/2014/main" id="{92429091-D3B9-40F1-9A57-DBC7F1C058FD}"/>
              </a:ext>
            </a:extLst>
          </p:cNvPr>
          <p:cNvSpPr>
            <a:spLocks xmlns:a="http://schemas.openxmlformats.org/drawingml/2006/main" noGrp="1"/>
          </p:cNvSpPr>
          <p:nvPr/>
        </p:nvSpPr>
        <p:spPr>
          <a:xfrm xmlns:a="http://schemas.openxmlformats.org/drawingml/2006/main">
            <a:off x="1028700" y="5314950"/>
            <a:ext cx="180975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1">
                <a:solidFill>
                  <a:srgbClr val="1F5A43"/>
                </a:solidFill>
              </a:defRPr>
            </a:pPr>
            <a:r>
              <a:rPr sz="1125" b="1">
                <a:solidFill>
                  <a:srgbClr val="1F5A43"/>
                </a:solidFill>
              </a:rPr>
              <a:t>Nearby workspaces</a:t>
            </a:r>
          </a:p>
        </p:txBody>
      </p:sp>
      <p:sp>
        <p:nvSpPr>
          <p:cNvPr id="29" name="">
            <a:extLst xmlns:a="http://schemas.openxmlformats.org/drawingml/2006/main">
              <a:ext uri="{FF2B5EF4-FFF2-40B4-BE49-F238E27FC236}">
                <a16:creationId xmlns:a16="http://schemas.microsoft.com/office/drawing/2014/main" id="{092C1096-09A3-4762-9075-525844D1F04C}"/>
              </a:ext>
            </a:extLst>
          </p:cNvPr>
          <p:cNvSpPr>
            <a:spLocks xmlns:a="http://schemas.openxmlformats.org/drawingml/2006/main" noGrp="1"/>
          </p:cNvSpPr>
          <p:nvPr/>
        </p:nvSpPr>
        <p:spPr>
          <a:xfrm xmlns:a="http://schemas.openxmlformats.org/drawingml/2006/main">
            <a:off x="3009900" y="5295900"/>
            <a:ext cx="79057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00" b="1">
                <a:solidFill>
                  <a:srgbClr val="16382E"/>
                </a:solidFill>
              </a:defRPr>
            </a:pPr>
            <a:r>
              <a:rPr sz="1500" b="1">
                <a:solidFill>
                  <a:srgbClr val="16382E"/>
                </a:solidFill>
              </a:rPr>
              <a:t>Households  ·  Attendance  ·  Departments and small groups</a:t>
            </a:r>
          </a:p>
        </p:txBody>
      </p:sp>
      <p:sp>
        <p:nvSpPr>
          <p:cNvPr id="30" name="">
            <a:extLst xmlns:a="http://schemas.openxmlformats.org/drawingml/2006/main">
              <a:ext uri="{FF2B5EF4-FFF2-40B4-BE49-F238E27FC236}">
                <a16:creationId xmlns:a16="http://schemas.microsoft.com/office/drawing/2014/main" id="{C391EF9E-6E38-4C11-9373-7CBAA8DEE759}"/>
              </a:ext>
            </a:extLst>
          </p:cNvPr>
          <p:cNvSpPr>
            <a:spLocks xmlns:a="http://schemas.openxmlformats.org/drawingml/2006/main" noGrp="1"/>
          </p:cNvSpPr>
          <p:nvPr/>
        </p:nvSpPr>
        <p:spPr>
          <a:xfrm xmlns:a="http://schemas.openxmlformats.org/drawingml/2006/main">
            <a:off x="3009900" y="5600700"/>
            <a:ext cx="790575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0">
                <a:solidFill>
                  <a:srgbClr val="63736D"/>
                </a:solidFill>
              </a:defRPr>
            </a:pPr>
            <a:r>
              <a:rPr sz="1125" b="0">
                <a:solidFill>
                  <a:srgbClr val="63736D"/>
                </a:solidFill>
              </a:rPr>
              <a:t>Use only the module needed for the task in front of you.</a:t>
            </a:r>
          </a:p>
        </p:txBody>
      </p:sp>
    </p:spTree>
    <p:transition spd="med" advClick="1">
      <p:fade/>
    </p:transition>
    <p:extLst>
      <p:ext uri="{BB962C8B-B14F-4D97-AF65-F5344CB8AC3E}">
        <p14:creationId xmlns:p14="http://schemas.microsoft.com/office/powerpoint/2010/main" val="1387314418"/>
      </p:ext>
    </p:extLst>
  </p:cSld>
</p:sld>
</file>

<file path=ppt/slides/slide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F9CB98-869B-4B8B-85CE-1579BEFCEC23}"/>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ADMINISTRATOR TUTORIAL</a:t>
            </a:r>
          </a:p>
        </p:txBody>
      </p:sp>
      <p:sp>
        <p:nvSpPr>
          <p:cNvPr id="2" name="">
            <a:extLst xmlns:a="http://schemas.openxmlformats.org/drawingml/2006/main">
              <a:ext uri="{FF2B5EF4-FFF2-40B4-BE49-F238E27FC236}">
                <a16:creationId xmlns:a16="http://schemas.microsoft.com/office/drawing/2014/main" id="{C57BDE14-AC2A-43A1-B31F-5513FDDB1547}"/>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8F3B6013-2EF7-446E-9308-8AC81CDC71C7}"/>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Ministries: move from overview to action</a:t>
            </a:r>
          </a:p>
        </p:txBody>
      </p:sp>
      <p:sp>
        <p:nvSpPr>
          <p:cNvPr id="4" name="">
            <a:extLst xmlns:a="http://schemas.openxmlformats.org/drawingml/2006/main">
              <a:ext uri="{FF2B5EF4-FFF2-40B4-BE49-F238E27FC236}">
                <a16:creationId xmlns:a16="http://schemas.microsoft.com/office/drawing/2014/main" id="{595F662B-14CC-441B-8D25-5184DE601DF3}"/>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Departments bring people, activities, plans, and budget context into one shared workspace.</a:t>
            </a:r>
          </a:p>
        </p:txBody>
      </p:sp>
      <p:sp>
        <p:nvSpPr>
          <p:cNvPr id="5" name="">
            <a:extLst xmlns:a="http://schemas.openxmlformats.org/drawingml/2006/main">
              <a:ext uri="{FF2B5EF4-FFF2-40B4-BE49-F238E27FC236}">
                <a16:creationId xmlns:a16="http://schemas.microsoft.com/office/drawing/2014/main" id="{6202F805-85C5-4C77-B038-BF1B608BD7E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389C1D7C-9AE4-4554-A89F-6138C07CA5D5}"/>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E12FAD87-259D-4BD6-BD4C-62425B6C25E5}"/>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06</a:t>
            </a:r>
          </a:p>
        </p:txBody>
      </p:sp>
      <p:sp>
        <p:nvSpPr>
          <p:cNvPr id="8" name="">
            <a:extLst xmlns:a="http://schemas.openxmlformats.org/drawingml/2006/main">
              <a:ext uri="{FF2B5EF4-FFF2-40B4-BE49-F238E27FC236}">
                <a16:creationId xmlns:a16="http://schemas.microsoft.com/office/drawing/2014/main" id="{3700A5E5-E8F9-4B24-85E8-29C40CDF762E}"/>
              </a:ext>
            </a:extLst>
          </p:cNvPr>
          <p:cNvSpPr>
            <a:spLocks xmlns:a="http://schemas.openxmlformats.org/drawingml/2006/main" noGrp="1"/>
          </p:cNvSpPr>
          <p:nvPr/>
        </p:nvSpPr>
        <p:spPr>
          <a:xfrm xmlns:a="http://schemas.openxmlformats.org/drawingml/2006/main">
            <a:off x="609600" y="2152650"/>
            <a:ext cx="3676650" cy="3695700"/>
          </a:xfrm>
          <a:prstGeom xmlns:a="http://schemas.openxmlformats.org/drawingml/2006/main" prst="roundRect">
            <a:avLst>
              <a:gd name="adj" fmla="val 5699"/>
            </a:avLst>
          </a:prstGeom>
          <a:solidFill xmlns:a="http://schemas.openxmlformats.org/drawingml/2006/main">
            <a:srgbClr val="0E4434"/>
          </a:solidFill>
          <a:ln xmlns:a="http://schemas.openxmlformats.org/drawingml/2006/main">
            <a:solidFill>
              <a:srgbClr val="0E4434"/>
            </a:solidFill>
          </a:ln>
        </p:spPr>
      </p:sp>
      <p:sp>
        <p:nvSpPr>
          <p:cNvPr id="9" name="">
            <a:extLst xmlns:a="http://schemas.openxmlformats.org/drawingml/2006/main">
              <a:ext uri="{FF2B5EF4-FFF2-40B4-BE49-F238E27FC236}">
                <a16:creationId xmlns:a16="http://schemas.microsoft.com/office/drawing/2014/main" id="{21568EA5-7352-4C01-91A5-B52F2908E89E}"/>
              </a:ext>
            </a:extLst>
          </p:cNvPr>
          <p:cNvSpPr>
            <a:spLocks xmlns:a="http://schemas.openxmlformats.org/drawingml/2006/main" noGrp="1"/>
          </p:cNvSpPr>
          <p:nvPr/>
        </p:nvSpPr>
        <p:spPr>
          <a:xfrm xmlns:a="http://schemas.openxmlformats.org/drawingml/2006/main">
            <a:off x="914400" y="2457450"/>
            <a:ext cx="228600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A SIMPLE ROUTE</a:t>
            </a:r>
          </a:p>
        </p:txBody>
      </p:sp>
      <p:sp>
        <p:nvSpPr>
          <p:cNvPr id="10" name="">
            <a:extLst xmlns:a="http://schemas.openxmlformats.org/drawingml/2006/main">
              <a:ext uri="{FF2B5EF4-FFF2-40B4-BE49-F238E27FC236}">
                <a16:creationId xmlns:a16="http://schemas.microsoft.com/office/drawing/2014/main" id="{96CD06CA-56B7-4A21-8B76-D5DF37BFDED6}"/>
              </a:ext>
            </a:extLst>
          </p:cNvPr>
          <p:cNvSpPr>
            <a:spLocks xmlns:a="http://schemas.openxmlformats.org/drawingml/2006/main" noGrp="1"/>
          </p:cNvSpPr>
          <p:nvPr/>
        </p:nvSpPr>
        <p:spPr>
          <a:xfrm xmlns:a="http://schemas.openxmlformats.org/drawingml/2006/main">
            <a:off x="914400" y="2895600"/>
            <a:ext cx="27241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950" b="1">
                <a:solidFill>
                  <a:srgbClr val="FFFFFF"/>
                </a:solidFill>
              </a:defRPr>
            </a:pPr>
            <a:r>
              <a:rPr sz="1950" b="1">
                <a:solidFill>
                  <a:srgbClr val="FFFFFF"/>
                </a:solidFill>
              </a:rPr>
              <a:t>Open Departments</a:t>
            </a:r>
          </a:p>
        </p:txBody>
      </p:sp>
      <p:sp>
        <p:nvSpPr>
          <p:cNvPr id="11" name="">
            <a:extLst xmlns:a="http://schemas.openxmlformats.org/drawingml/2006/main">
              <a:ext uri="{FF2B5EF4-FFF2-40B4-BE49-F238E27FC236}">
                <a16:creationId xmlns:a16="http://schemas.microsoft.com/office/drawing/2014/main" id="{3EA11648-402E-4C80-85E6-BD41C7F94B88}"/>
              </a:ext>
            </a:extLst>
          </p:cNvPr>
          <p:cNvSpPr>
            <a:spLocks xmlns:a="http://schemas.openxmlformats.org/drawingml/2006/main" noGrp="1"/>
          </p:cNvSpPr>
          <p:nvPr/>
        </p:nvSpPr>
        <p:spPr>
          <a:xfrm xmlns:a="http://schemas.openxmlformats.org/drawingml/2006/main">
            <a:off x="914400" y="3448050"/>
            <a:ext cx="27241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0">
                <a:solidFill>
                  <a:srgbClr val="DDE7E2"/>
                </a:solidFill>
              </a:defRPr>
            </a:pPr>
            <a:r>
              <a:rPr sz="1425" b="0">
                <a:solidFill>
                  <a:srgbClr val="DDE7E2"/>
                </a:solidFill>
              </a:rPr>
              <a:t>Choose a department or team</a:t>
            </a:r>
          </a:p>
        </p:txBody>
      </p:sp>
      <p:sp>
        <p:nvSpPr>
          <p:cNvPr id="12" name="">
            <a:extLst xmlns:a="http://schemas.openxmlformats.org/drawingml/2006/main">
              <a:ext uri="{FF2B5EF4-FFF2-40B4-BE49-F238E27FC236}">
                <a16:creationId xmlns:a16="http://schemas.microsoft.com/office/drawing/2014/main" id="{8638F870-82D8-4AB1-8F17-EE036E130D82}"/>
              </a:ext>
            </a:extLst>
          </p:cNvPr>
          <p:cNvSpPr>
            <a:spLocks xmlns:a="http://schemas.openxmlformats.org/drawingml/2006/main" noGrp="1"/>
          </p:cNvSpPr>
          <p:nvPr/>
        </p:nvSpPr>
        <p:spPr>
          <a:xfrm xmlns:a="http://schemas.openxmlformats.org/drawingml/2006/main">
            <a:off x="914400" y="4038600"/>
            <a:ext cx="27241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0">
                <a:solidFill>
                  <a:srgbClr val="DDE7E2"/>
                </a:solidFill>
              </a:defRPr>
            </a:pPr>
            <a:r>
              <a:rPr sz="1425" b="0">
                <a:solidFill>
                  <a:srgbClr val="DDE7E2"/>
                </a:solidFill>
              </a:rPr>
              <a:t>Use the workspace tabs</a:t>
            </a:r>
          </a:p>
        </p:txBody>
      </p:sp>
      <p:sp>
        <p:nvSpPr>
          <p:cNvPr id="13" name="">
            <a:extLst xmlns:a="http://schemas.openxmlformats.org/drawingml/2006/main">
              <a:ext uri="{FF2B5EF4-FFF2-40B4-BE49-F238E27FC236}">
                <a16:creationId xmlns:a16="http://schemas.microsoft.com/office/drawing/2014/main" id="{1A0E53F5-E11A-43AA-9E60-6DF477EB8272}"/>
              </a:ext>
            </a:extLst>
          </p:cNvPr>
          <p:cNvSpPr>
            <a:spLocks xmlns:a="http://schemas.openxmlformats.org/drawingml/2006/main" noGrp="1"/>
          </p:cNvSpPr>
          <p:nvPr/>
        </p:nvSpPr>
        <p:spPr>
          <a:xfrm xmlns:a="http://schemas.openxmlformats.org/drawingml/2006/main">
            <a:off x="914400" y="4629150"/>
            <a:ext cx="2724150" cy="704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1">
                <a:solidFill>
                  <a:srgbClr val="E9D8A8"/>
                </a:solidFill>
              </a:defRPr>
            </a:pPr>
            <a:r>
              <a:rPr sz="1425" b="1">
                <a:solidFill>
                  <a:srgbClr val="E9D8A8"/>
                </a:solidFill>
              </a:rPr>
              <a:t>Overview · Action Plan · Activities</a:t>
            </a:r>
          </a:p>
          <a:p xmlns:a="http://schemas.openxmlformats.org/drawingml/2006/main">
            <a:pPr algn="l">
              <a:defRPr sz="1425" b="1">
                <a:solidFill>
                  <a:srgbClr val="E9D8A8"/>
                </a:solidFill>
              </a:defRPr>
            </a:pPr>
            <a:r>
              <a:rPr sz="1425" b="1">
                <a:solidFill>
                  <a:srgbClr val="E9D8A8"/>
                </a:solidFill>
              </a:rPr>
              <a:t>People · Budget</a:t>
            </a:r>
          </a:p>
        </p:txBody>
      </p:sp>
      <p:sp>
        <p:nvSpPr>
          <p:cNvPr id="14" name="">
            <a:extLst xmlns:a="http://schemas.openxmlformats.org/drawingml/2006/main">
              <a:ext uri="{FF2B5EF4-FFF2-40B4-BE49-F238E27FC236}">
                <a16:creationId xmlns:a16="http://schemas.microsoft.com/office/drawing/2014/main" id="{77753389-7DB0-4AFA-A989-A0400425E7BC}"/>
              </a:ext>
            </a:extLst>
          </p:cNvPr>
          <p:cNvSpPr>
            <a:spLocks xmlns:a="http://schemas.openxmlformats.org/drawingml/2006/main" noGrp="1"/>
          </p:cNvSpPr>
          <p:nvPr/>
        </p:nvSpPr>
        <p:spPr>
          <a:xfrm xmlns:a="http://schemas.openxmlformats.org/drawingml/2006/main">
            <a:off x="914400" y="5467350"/>
            <a:ext cx="272415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0">
                <a:solidFill>
                  <a:srgbClr val="DDE7E2"/>
                </a:solidFill>
              </a:defRPr>
            </a:pPr>
            <a:r>
              <a:rPr sz="1050" b="0">
                <a:solidFill>
                  <a:srgbClr val="DDE7E2"/>
                </a:solidFill>
              </a:rPr>
              <a:t>Keep the task in its ministry context.</a:t>
            </a:r>
          </a:p>
        </p:txBody>
      </p:sp>
      <p:sp>
        <p:nvSpPr>
          <p:cNvPr id="15" name="">
            <a:extLst xmlns:a="http://schemas.openxmlformats.org/drawingml/2006/main">
              <a:ext uri="{FF2B5EF4-FFF2-40B4-BE49-F238E27FC236}">
                <a16:creationId xmlns:a16="http://schemas.microsoft.com/office/drawing/2014/main" id="{E53FD185-80B8-4EDC-8A0D-51E161C0CB3D}"/>
              </a:ext>
            </a:extLst>
          </p:cNvPr>
          <p:cNvSpPr>
            <a:spLocks xmlns:a="http://schemas.openxmlformats.org/drawingml/2006/main" noGrp="1"/>
          </p:cNvSpPr>
          <p:nvPr/>
        </p:nvSpPr>
        <p:spPr>
          <a:xfrm xmlns:a="http://schemas.openxmlformats.org/drawingml/2006/main">
            <a:off x="4629150" y="2152650"/>
            <a:ext cx="6953250" cy="3695700"/>
          </a:xfrm>
          <a:prstGeom xmlns:a="http://schemas.openxmlformats.org/drawingml/2006/main" prst="roundRect">
            <a:avLst>
              <a:gd name="adj" fmla="val 4639"/>
            </a:avLst>
          </a:prstGeom>
          <a:solidFill xmlns:a="http://schemas.openxmlformats.org/drawingml/2006/main">
            <a:srgbClr val="FFFFFF"/>
          </a:solidFill>
          <a:ln xmlns:a="http://schemas.openxmlformats.org/drawingml/2006/main" w="9525">
            <a:solidFill>
              <a:srgbClr val="CBD6CF"/>
            </a:solidFill>
          </a:ln>
        </p:spPr>
      </p:sp>
      <p:sp>
        <p:nvSpPr>
          <p:cNvPr id="16" name="">
            <a:extLst xmlns:a="http://schemas.openxmlformats.org/drawingml/2006/main">
              <a:ext uri="{FF2B5EF4-FFF2-40B4-BE49-F238E27FC236}">
                <a16:creationId xmlns:a16="http://schemas.microsoft.com/office/drawing/2014/main" id="{AD3B29AC-4251-4B30-A8CF-71F1412290E3}"/>
              </a:ext>
            </a:extLst>
          </p:cNvPr>
          <p:cNvSpPr>
            <a:spLocks xmlns:a="http://schemas.openxmlformats.org/drawingml/2006/main" noGrp="1"/>
          </p:cNvSpPr>
          <p:nvPr/>
        </p:nvSpPr>
        <p:spPr>
          <a:xfrm xmlns:a="http://schemas.openxmlformats.org/drawingml/2006/main">
            <a:off x="4724400" y="2247900"/>
            <a:ext cx="6762750" cy="3505200"/>
          </a:xfrm>
          <a:prstGeom xmlns:a="http://schemas.openxmlformats.org/drawingml/2006/main" prst="roundRect">
            <a:avLst>
              <a:gd name="adj" fmla="val 3261"/>
            </a:avLst>
          </a:prstGeom>
          <a:solidFill xmlns:a="http://schemas.openxmlformats.org/drawingml/2006/main">
            <a:srgbClr val="FFFDFC"/>
          </a:solidFill>
          <a:ln xmlns:a="http://schemas.openxmlformats.org/drawingml/2006/main">
            <a:solidFill>
              <a:srgbClr val="FFFDFC"/>
            </a:solidFill>
          </a:ln>
        </p:spPr>
      </p:sp>
      <p:sp>
        <p:nvSpPr>
          <p:cNvPr id="17" name="">
            <a:extLst xmlns:a="http://schemas.openxmlformats.org/drawingml/2006/main">
              <a:ext uri="{FF2B5EF4-FFF2-40B4-BE49-F238E27FC236}">
                <a16:creationId xmlns:a16="http://schemas.microsoft.com/office/drawing/2014/main" id="{3EDDCC96-4E5D-4739-BA34-492FDA867139}"/>
              </a:ext>
            </a:extLst>
          </p:cNvPr>
          <p:cNvSpPr>
            <a:spLocks xmlns:a="http://schemas.openxmlformats.org/drawingml/2006/main" noGrp="1"/>
          </p:cNvSpPr>
          <p:nvPr/>
        </p:nvSpPr>
        <p:spPr>
          <a:xfrm xmlns:a="http://schemas.openxmlformats.org/drawingml/2006/main">
            <a:off x="4800600" y="2324100"/>
            <a:ext cx="1371600" cy="2857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18" name="">
            <a:extLst xmlns:a="http://schemas.openxmlformats.org/drawingml/2006/main">
              <a:ext uri="{FF2B5EF4-FFF2-40B4-BE49-F238E27FC236}">
                <a16:creationId xmlns:a16="http://schemas.microsoft.com/office/drawing/2014/main" id="{BF7C196A-9B66-410A-A83A-DF802BDCA53C}"/>
              </a:ext>
            </a:extLst>
          </p:cNvPr>
          <p:cNvSpPr>
            <a:spLocks xmlns:a="http://schemas.openxmlformats.org/drawingml/2006/main" noGrp="1"/>
          </p:cNvSpPr>
          <p:nvPr/>
        </p:nvSpPr>
        <p:spPr>
          <a:xfrm xmlns:a="http://schemas.openxmlformats.org/drawingml/2006/main">
            <a:off x="4800600" y="2324100"/>
            <a:ext cx="1371600" cy="285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REAL PREVIEW SCREEN</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66e62b9fd104a52"/>
          <a:srcRect xmlns:a="http://schemas.openxmlformats.org/drawingml/2006/main" l="0" t="17545" r="0" b="17545"/>
          <a:stretch xmlns:a="http://schemas.openxmlformats.org/drawingml/2006/main">
            <a:fillRect l="0" t="0" r="0" b="0"/>
          </a:stretch>
        </p:blipFill>
        <p:spPr>
          <a:xfrm xmlns:a="http://schemas.openxmlformats.org/drawingml/2006/main">
            <a:off x="4743450" y="2266950"/>
            <a:ext cx="6724650" cy="3467100"/>
          </a:xfrm>
          <a:prstGeom xmlns:a="http://schemas.openxmlformats.org/drawingml/2006/main" prst="roundRect">
            <a:avLst>
              <a:gd name="adj" fmla="val 3297"/>
            </a:avLst>
          </a:prstGeom>
        </p:spPr>
      </p:pic>
      <p:sp>
        <p:nvSpPr>
          <p:cNvPr id="20" name="">
            <a:extLst xmlns:a="http://schemas.openxmlformats.org/drawingml/2006/main">
              <a:ext uri="{FF2B5EF4-FFF2-40B4-BE49-F238E27FC236}">
                <a16:creationId xmlns:a16="http://schemas.microsoft.com/office/drawing/2014/main" id="{5BE6B630-F6BA-44FC-9568-5FD1BB67067C}"/>
              </a:ext>
            </a:extLst>
          </p:cNvPr>
          <p:cNvSpPr>
            <a:spLocks xmlns:a="http://schemas.openxmlformats.org/drawingml/2006/main" noGrp="1"/>
          </p:cNvSpPr>
          <p:nvPr/>
        </p:nvSpPr>
        <p:spPr>
          <a:xfrm xmlns:a="http://schemas.openxmlformats.org/drawingml/2006/main">
            <a:off x="5019675" y="2714625"/>
            <a:ext cx="1485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21" name="">
            <a:extLst xmlns:a="http://schemas.openxmlformats.org/drawingml/2006/main">
              <a:ext uri="{FF2B5EF4-FFF2-40B4-BE49-F238E27FC236}">
                <a16:creationId xmlns:a16="http://schemas.microsoft.com/office/drawing/2014/main" id="{3D99F5B5-3815-449A-A61C-D8C0043D5FDB}"/>
              </a:ext>
            </a:extLst>
          </p:cNvPr>
          <p:cNvSpPr>
            <a:spLocks xmlns:a="http://schemas.openxmlformats.org/drawingml/2006/main" noGrp="1"/>
          </p:cNvSpPr>
          <p:nvPr/>
        </p:nvSpPr>
        <p:spPr>
          <a:xfrm xmlns:a="http://schemas.openxmlformats.org/drawingml/2006/main">
            <a:off x="5019675" y="2714625"/>
            <a:ext cx="1485900" cy="2952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1 · Workspace tabs</a:t>
            </a:r>
          </a:p>
        </p:txBody>
      </p:sp>
      <p:sp>
        <p:nvSpPr>
          <p:cNvPr id="22" name="">
            <a:extLst xmlns:a="http://schemas.openxmlformats.org/drawingml/2006/main">
              <a:ext uri="{FF2B5EF4-FFF2-40B4-BE49-F238E27FC236}">
                <a16:creationId xmlns:a16="http://schemas.microsoft.com/office/drawing/2014/main" id="{7A9FD8E5-A75C-4648-9522-6EC2A07C3574}"/>
              </a:ext>
            </a:extLst>
          </p:cNvPr>
          <p:cNvSpPr>
            <a:spLocks xmlns:a="http://schemas.openxmlformats.org/drawingml/2006/main" noGrp="1"/>
          </p:cNvSpPr>
          <p:nvPr/>
        </p:nvSpPr>
        <p:spPr>
          <a:xfrm xmlns:a="http://schemas.openxmlformats.org/drawingml/2006/main">
            <a:off x="8572500" y="3162300"/>
            <a:ext cx="142875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23" name="">
            <a:extLst xmlns:a="http://schemas.openxmlformats.org/drawingml/2006/main">
              <a:ext uri="{FF2B5EF4-FFF2-40B4-BE49-F238E27FC236}">
                <a16:creationId xmlns:a16="http://schemas.microsoft.com/office/drawing/2014/main" id="{53593685-35BC-4A6F-9881-44744E80B7B4}"/>
              </a:ext>
            </a:extLst>
          </p:cNvPr>
          <p:cNvSpPr>
            <a:spLocks xmlns:a="http://schemas.openxmlformats.org/drawingml/2006/main" noGrp="1"/>
          </p:cNvSpPr>
          <p:nvPr/>
        </p:nvSpPr>
        <p:spPr>
          <a:xfrm xmlns:a="http://schemas.openxmlformats.org/drawingml/2006/main">
            <a:off x="8572500" y="3162300"/>
            <a:ext cx="1428750" cy="2952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2 · Live summary</a:t>
            </a:r>
          </a:p>
        </p:txBody>
      </p:sp>
      <p:sp>
        <p:nvSpPr>
          <p:cNvPr id="24" name="">
            <a:extLst xmlns:a="http://schemas.openxmlformats.org/drawingml/2006/main">
              <a:ext uri="{FF2B5EF4-FFF2-40B4-BE49-F238E27FC236}">
                <a16:creationId xmlns:a16="http://schemas.microsoft.com/office/drawing/2014/main" id="{9698675C-6B20-4071-B8B0-59296CB63584}"/>
              </a:ext>
            </a:extLst>
          </p:cNvPr>
          <p:cNvSpPr>
            <a:spLocks xmlns:a="http://schemas.openxmlformats.org/drawingml/2006/main" noGrp="1"/>
          </p:cNvSpPr>
          <p:nvPr/>
        </p:nvSpPr>
        <p:spPr>
          <a:xfrm xmlns:a="http://schemas.openxmlformats.org/drawingml/2006/main">
            <a:off x="9077325" y="5048250"/>
            <a:ext cx="1485900" cy="2952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25" name="">
            <a:extLst xmlns:a="http://schemas.openxmlformats.org/drawingml/2006/main">
              <a:ext uri="{FF2B5EF4-FFF2-40B4-BE49-F238E27FC236}">
                <a16:creationId xmlns:a16="http://schemas.microsoft.com/office/drawing/2014/main" id="{80EC6029-4904-4F28-84CC-FFCFCE82BFBC}"/>
              </a:ext>
            </a:extLst>
          </p:cNvPr>
          <p:cNvSpPr>
            <a:spLocks xmlns:a="http://schemas.openxmlformats.org/drawingml/2006/main" noGrp="1"/>
          </p:cNvSpPr>
          <p:nvPr/>
        </p:nvSpPr>
        <p:spPr>
          <a:xfrm xmlns:a="http://schemas.openxmlformats.org/drawingml/2006/main">
            <a:off x="9077325" y="5048250"/>
            <a:ext cx="1485900" cy="295275"/>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3 · Open details</a:t>
            </a:r>
          </a:p>
        </p:txBody>
      </p:sp>
    </p:spTree>
    <p:transition spd="med" advClick="1">
      <p:fade/>
    </p:transition>
    <p:extLst>
      <p:ext uri="{BB962C8B-B14F-4D97-AF65-F5344CB8AC3E}">
        <p14:creationId xmlns:p14="http://schemas.microsoft.com/office/powerpoint/2010/main" val="475172449"/>
      </p:ext>
    </p:extLst>
  </p:cSld>
</p:sld>
</file>

<file path=ppt/slides/slide7.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562264C-5E94-4C23-AA23-85554F8EFAF3}"/>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ADMINISTRATOR WORKSPACE</a:t>
            </a:r>
          </a:p>
        </p:txBody>
      </p:sp>
      <p:sp>
        <p:nvSpPr>
          <p:cNvPr id="2" name="">
            <a:extLst xmlns:a="http://schemas.openxmlformats.org/drawingml/2006/main">
              <a:ext uri="{FF2B5EF4-FFF2-40B4-BE49-F238E27FC236}">
                <a16:creationId xmlns:a16="http://schemas.microsoft.com/office/drawing/2014/main" id="{26A9D9EF-2F77-4894-BDA7-7A31592B2FEA}"/>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118A78C2-185F-4F89-8401-58C486F00D51}"/>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Responsible administration lives in three lanes</a:t>
            </a:r>
          </a:p>
        </p:txBody>
      </p:sp>
      <p:sp>
        <p:nvSpPr>
          <p:cNvPr id="4" name="">
            <a:extLst xmlns:a="http://schemas.openxmlformats.org/drawingml/2006/main">
              <a:ext uri="{FF2B5EF4-FFF2-40B4-BE49-F238E27FC236}">
                <a16:creationId xmlns:a16="http://schemas.microsoft.com/office/drawing/2014/main" id="{7735FD23-2A4F-4B24-9922-66E4399F5A3B}"/>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Use the lane that matches the decision, record, or review you are performing.</a:t>
            </a:r>
          </a:p>
        </p:txBody>
      </p:sp>
      <p:sp>
        <p:nvSpPr>
          <p:cNvPr id="5" name="">
            <a:extLst xmlns:a="http://schemas.openxmlformats.org/drawingml/2006/main">
              <a:ext uri="{FF2B5EF4-FFF2-40B4-BE49-F238E27FC236}">
                <a16:creationId xmlns:a16="http://schemas.microsoft.com/office/drawing/2014/main" id="{02F26494-7837-4413-9FD7-5536CDC8174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9809C1E2-72F6-472C-9470-6A41B3ED710D}"/>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DEAA5519-27D9-4616-B9C3-B3B6A9AFA2FA}"/>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07</a:t>
            </a:r>
          </a:p>
        </p:txBody>
      </p:sp>
      <p:sp>
        <p:nvSpPr>
          <p:cNvPr id="8" name="">
            <a:extLst xmlns:a="http://schemas.openxmlformats.org/drawingml/2006/main">
              <a:ext uri="{FF2B5EF4-FFF2-40B4-BE49-F238E27FC236}">
                <a16:creationId xmlns:a16="http://schemas.microsoft.com/office/drawing/2014/main" id="{22EF2115-9269-4A3B-B443-D0241385823E}"/>
              </a:ext>
            </a:extLst>
          </p:cNvPr>
          <p:cNvSpPr>
            <a:spLocks xmlns:a="http://schemas.openxmlformats.org/drawingml/2006/main" noGrp="1"/>
          </p:cNvSpPr>
          <p:nvPr/>
        </p:nvSpPr>
        <p:spPr>
          <a:xfrm xmlns:a="http://schemas.openxmlformats.org/drawingml/2006/main">
            <a:off x="666750" y="2266950"/>
            <a:ext cx="70485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400" b="1">
                <a:solidFill>
                  <a:srgbClr val="1F5A43"/>
                </a:solidFill>
              </a:defRPr>
            </a:pPr>
            <a:r>
              <a:rPr sz="2400" b="1">
                <a:solidFill>
                  <a:srgbClr val="1F5A43"/>
                </a:solidFill>
              </a:rPr>
              <a:t>01</a:t>
            </a:r>
          </a:p>
        </p:txBody>
      </p:sp>
      <p:sp>
        <p:nvSpPr>
          <p:cNvPr id="9" name="">
            <a:extLst xmlns:a="http://schemas.openxmlformats.org/drawingml/2006/main">
              <a:ext uri="{FF2B5EF4-FFF2-40B4-BE49-F238E27FC236}">
                <a16:creationId xmlns:a16="http://schemas.microsoft.com/office/drawing/2014/main" id="{58AD2B0E-5641-491A-97F9-84DE23B68BD3}"/>
              </a:ext>
            </a:extLst>
          </p:cNvPr>
          <p:cNvSpPr>
            <a:spLocks xmlns:a="http://schemas.openxmlformats.org/drawingml/2006/main" noGrp="1"/>
          </p:cNvSpPr>
          <p:nvPr/>
        </p:nvSpPr>
        <p:spPr>
          <a:xfrm xmlns:a="http://schemas.openxmlformats.org/drawingml/2006/main">
            <a:off x="666750" y="2895600"/>
            <a:ext cx="3143250" cy="5334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75" b="1">
                <a:solidFill>
                  <a:srgbClr val="16382E"/>
                </a:solidFill>
              </a:defRPr>
            </a:pPr>
            <a:r>
              <a:rPr sz="1875" b="1">
                <a:solidFill>
                  <a:srgbClr val="16382E"/>
                </a:solidFill>
              </a:rPr>
              <a:t>Governance &amp; records</a:t>
            </a:r>
          </a:p>
        </p:txBody>
      </p:sp>
      <p:sp>
        <p:nvSpPr>
          <p:cNvPr id="10" name="">
            <a:extLst xmlns:a="http://schemas.openxmlformats.org/drawingml/2006/main">
              <a:ext uri="{FF2B5EF4-FFF2-40B4-BE49-F238E27FC236}">
                <a16:creationId xmlns:a16="http://schemas.microsoft.com/office/drawing/2014/main" id="{3DB0AE88-3B69-472E-A0CD-096BEEF87788}"/>
              </a:ext>
            </a:extLst>
          </p:cNvPr>
          <p:cNvSpPr>
            <a:spLocks xmlns:a="http://schemas.openxmlformats.org/drawingml/2006/main" noGrp="1"/>
          </p:cNvSpPr>
          <p:nvPr/>
        </p:nvSpPr>
        <p:spPr>
          <a:xfrm xmlns:a="http://schemas.openxmlformats.org/drawingml/2006/main">
            <a:off x="666750" y="3590925"/>
            <a:ext cx="609600" cy="38100"/>
          </a:xfrm>
          <a:prstGeom xmlns:a="http://schemas.openxmlformats.org/drawingml/2006/main" prst="rect">
            <a:avLst/>
          </a:prstGeom>
          <a:solidFill xmlns:a="http://schemas.openxmlformats.org/drawingml/2006/main">
            <a:srgbClr val="DDE9DF"/>
          </a:solidFill>
          <a:ln xmlns:a="http://schemas.openxmlformats.org/drawingml/2006/main">
            <a:solidFill>
              <a:srgbClr val="DDE9DF"/>
            </a:solidFill>
          </a:ln>
        </p:spPr>
      </p:sp>
      <p:sp>
        <p:nvSpPr>
          <p:cNvPr id="11" name="">
            <a:extLst xmlns:a="http://schemas.openxmlformats.org/drawingml/2006/main">
              <a:ext uri="{FF2B5EF4-FFF2-40B4-BE49-F238E27FC236}">
                <a16:creationId xmlns:a16="http://schemas.microsoft.com/office/drawing/2014/main" id="{A6F69904-0F13-4162-AA4F-0D96F96E44C6}"/>
              </a:ext>
            </a:extLst>
          </p:cNvPr>
          <p:cNvSpPr>
            <a:spLocks xmlns:a="http://schemas.openxmlformats.org/drawingml/2006/main" noGrp="1"/>
          </p:cNvSpPr>
          <p:nvPr/>
        </p:nvSpPr>
        <p:spPr>
          <a:xfrm xmlns:a="http://schemas.openxmlformats.org/drawingml/2006/main">
            <a:off x="666750" y="3867150"/>
            <a:ext cx="3143250" cy="704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00" b="1">
                <a:solidFill>
                  <a:srgbClr val="1F5A43"/>
                </a:solidFill>
              </a:defRPr>
            </a:pPr>
            <a:r>
              <a:rPr sz="1800" b="1">
                <a:solidFill>
                  <a:srgbClr val="1F5A43"/>
                </a:solidFill>
              </a:rPr>
              <a:t>Church Office</a:t>
            </a:r>
          </a:p>
          <a:p xmlns:a="http://schemas.openxmlformats.org/drawingml/2006/main">
            <a:pPr algn="l">
              <a:defRPr sz="1800" b="1">
                <a:solidFill>
                  <a:srgbClr val="1F5A43"/>
                </a:solidFill>
              </a:defRPr>
            </a:pPr>
            <a:r>
              <a:rPr sz="1800" b="1">
                <a:solidFill>
                  <a:srgbClr val="1F5A43"/>
                </a:solidFill>
              </a:rPr>
              <a:t>Approvals</a:t>
            </a:r>
          </a:p>
        </p:txBody>
      </p:sp>
      <p:sp>
        <p:nvSpPr>
          <p:cNvPr id="12" name="">
            <a:extLst xmlns:a="http://schemas.openxmlformats.org/drawingml/2006/main">
              <a:ext uri="{FF2B5EF4-FFF2-40B4-BE49-F238E27FC236}">
                <a16:creationId xmlns:a16="http://schemas.microsoft.com/office/drawing/2014/main" id="{F911A74B-F1E5-4D00-B5FE-9935BB332F09}"/>
              </a:ext>
            </a:extLst>
          </p:cNvPr>
          <p:cNvSpPr>
            <a:spLocks xmlns:a="http://schemas.openxmlformats.org/drawingml/2006/main" noGrp="1"/>
          </p:cNvSpPr>
          <p:nvPr/>
        </p:nvSpPr>
        <p:spPr>
          <a:xfrm xmlns:a="http://schemas.openxmlformats.org/drawingml/2006/main">
            <a:off x="666750" y="4819650"/>
            <a:ext cx="30480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Formal records and review queues.</a:t>
            </a:r>
          </a:p>
        </p:txBody>
      </p:sp>
      <p:sp>
        <p:nvSpPr>
          <p:cNvPr id="13" name="">
            <a:extLst xmlns:a="http://schemas.openxmlformats.org/drawingml/2006/main">
              <a:ext uri="{FF2B5EF4-FFF2-40B4-BE49-F238E27FC236}">
                <a16:creationId xmlns:a16="http://schemas.microsoft.com/office/drawing/2014/main" id="{DD1BB7BC-F63B-4AE7-9961-3E61C287ADD5}"/>
              </a:ext>
            </a:extLst>
          </p:cNvPr>
          <p:cNvSpPr>
            <a:spLocks xmlns:a="http://schemas.openxmlformats.org/drawingml/2006/main" noGrp="1"/>
          </p:cNvSpPr>
          <p:nvPr/>
        </p:nvSpPr>
        <p:spPr>
          <a:xfrm xmlns:a="http://schemas.openxmlformats.org/drawingml/2006/main">
            <a:off x="4152900" y="2247900"/>
            <a:ext cx="9525" cy="34766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14" name="">
            <a:extLst xmlns:a="http://schemas.openxmlformats.org/drawingml/2006/main">
              <a:ext uri="{FF2B5EF4-FFF2-40B4-BE49-F238E27FC236}">
                <a16:creationId xmlns:a16="http://schemas.microsoft.com/office/drawing/2014/main" id="{31A750B3-1059-427A-8479-12EE568CBBB5}"/>
              </a:ext>
            </a:extLst>
          </p:cNvPr>
          <p:cNvSpPr>
            <a:spLocks xmlns:a="http://schemas.openxmlformats.org/drawingml/2006/main" noGrp="1"/>
          </p:cNvSpPr>
          <p:nvPr/>
        </p:nvSpPr>
        <p:spPr>
          <a:xfrm xmlns:a="http://schemas.openxmlformats.org/drawingml/2006/main">
            <a:off x="4476750" y="2266950"/>
            <a:ext cx="70485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400" b="1">
                <a:solidFill>
                  <a:srgbClr val="C69A3B"/>
                </a:solidFill>
              </a:defRPr>
            </a:pPr>
            <a:r>
              <a:rPr sz="2400" b="1">
                <a:solidFill>
                  <a:srgbClr val="C69A3B"/>
                </a:solidFill>
              </a:rPr>
              <a:t>02</a:t>
            </a:r>
          </a:p>
        </p:txBody>
      </p:sp>
      <p:sp>
        <p:nvSpPr>
          <p:cNvPr id="15" name="">
            <a:extLst xmlns:a="http://schemas.openxmlformats.org/drawingml/2006/main">
              <a:ext uri="{FF2B5EF4-FFF2-40B4-BE49-F238E27FC236}">
                <a16:creationId xmlns:a16="http://schemas.microsoft.com/office/drawing/2014/main" id="{6B2030A0-941D-4A89-98C3-C500295C4991}"/>
              </a:ext>
            </a:extLst>
          </p:cNvPr>
          <p:cNvSpPr>
            <a:spLocks xmlns:a="http://schemas.openxmlformats.org/drawingml/2006/main" noGrp="1"/>
          </p:cNvSpPr>
          <p:nvPr/>
        </p:nvSpPr>
        <p:spPr>
          <a:xfrm xmlns:a="http://schemas.openxmlformats.org/drawingml/2006/main">
            <a:off x="4476750" y="2895600"/>
            <a:ext cx="3143250" cy="5334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75" b="1">
                <a:solidFill>
                  <a:srgbClr val="16382E"/>
                </a:solidFill>
              </a:defRPr>
            </a:pPr>
            <a:r>
              <a:rPr sz="1875" b="1">
                <a:solidFill>
                  <a:srgbClr val="16382E"/>
                </a:solidFill>
              </a:rPr>
              <a:t>Stewardship &amp; reporting</a:t>
            </a:r>
          </a:p>
        </p:txBody>
      </p:sp>
      <p:sp>
        <p:nvSpPr>
          <p:cNvPr id="16" name="">
            <a:extLst xmlns:a="http://schemas.openxmlformats.org/drawingml/2006/main">
              <a:ext uri="{FF2B5EF4-FFF2-40B4-BE49-F238E27FC236}">
                <a16:creationId xmlns:a16="http://schemas.microsoft.com/office/drawing/2014/main" id="{0E101B78-86FE-4C93-B59F-0A01EA71EA71}"/>
              </a:ext>
            </a:extLst>
          </p:cNvPr>
          <p:cNvSpPr>
            <a:spLocks xmlns:a="http://schemas.openxmlformats.org/drawingml/2006/main" noGrp="1"/>
          </p:cNvSpPr>
          <p:nvPr/>
        </p:nvSpPr>
        <p:spPr>
          <a:xfrm xmlns:a="http://schemas.openxmlformats.org/drawingml/2006/main">
            <a:off x="4476750" y="3590925"/>
            <a:ext cx="6096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17" name="">
            <a:extLst xmlns:a="http://schemas.openxmlformats.org/drawingml/2006/main">
              <a:ext uri="{FF2B5EF4-FFF2-40B4-BE49-F238E27FC236}">
                <a16:creationId xmlns:a16="http://schemas.microsoft.com/office/drawing/2014/main" id="{B954A3A2-3FDD-4871-9137-903AA75643F2}"/>
              </a:ext>
            </a:extLst>
          </p:cNvPr>
          <p:cNvSpPr>
            <a:spLocks xmlns:a="http://schemas.openxmlformats.org/drawingml/2006/main" noGrp="1"/>
          </p:cNvSpPr>
          <p:nvPr/>
        </p:nvSpPr>
        <p:spPr>
          <a:xfrm xmlns:a="http://schemas.openxmlformats.org/drawingml/2006/main">
            <a:off x="4476750" y="3867150"/>
            <a:ext cx="3143250" cy="704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00" b="1">
                <a:solidFill>
                  <a:srgbClr val="1F5A43"/>
                </a:solidFill>
              </a:defRPr>
            </a:pPr>
            <a:r>
              <a:rPr sz="1800" b="1">
                <a:solidFill>
                  <a:srgbClr val="1F5A43"/>
                </a:solidFill>
              </a:rPr>
              <a:t>Treasury</a:t>
            </a:r>
          </a:p>
          <a:p xmlns:a="http://schemas.openxmlformats.org/drawingml/2006/main">
            <a:pPr algn="l">
              <a:defRPr sz="1800" b="1">
                <a:solidFill>
                  <a:srgbClr val="1F5A43"/>
                </a:solidFill>
              </a:defRPr>
            </a:pPr>
            <a:r>
              <a:rPr sz="1800" b="1">
                <a:solidFill>
                  <a:srgbClr val="1F5A43"/>
                </a:solidFill>
              </a:rPr>
              <a:t>Reports</a:t>
            </a:r>
          </a:p>
        </p:txBody>
      </p:sp>
      <p:sp>
        <p:nvSpPr>
          <p:cNvPr id="18" name="">
            <a:extLst xmlns:a="http://schemas.openxmlformats.org/drawingml/2006/main">
              <a:ext uri="{FF2B5EF4-FFF2-40B4-BE49-F238E27FC236}">
                <a16:creationId xmlns:a16="http://schemas.microsoft.com/office/drawing/2014/main" id="{E234C5D4-6B88-4E4C-9B69-840C4334CCAB}"/>
              </a:ext>
            </a:extLst>
          </p:cNvPr>
          <p:cNvSpPr>
            <a:spLocks xmlns:a="http://schemas.openxmlformats.org/drawingml/2006/main" noGrp="1"/>
          </p:cNvSpPr>
          <p:nvPr/>
        </p:nvSpPr>
        <p:spPr>
          <a:xfrm xmlns:a="http://schemas.openxmlformats.org/drawingml/2006/main">
            <a:off x="4476750" y="4819650"/>
            <a:ext cx="30480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Financial context and summaries.</a:t>
            </a:r>
          </a:p>
        </p:txBody>
      </p:sp>
      <p:sp>
        <p:nvSpPr>
          <p:cNvPr id="19" name="">
            <a:extLst xmlns:a="http://schemas.openxmlformats.org/drawingml/2006/main">
              <a:ext uri="{FF2B5EF4-FFF2-40B4-BE49-F238E27FC236}">
                <a16:creationId xmlns:a16="http://schemas.microsoft.com/office/drawing/2014/main" id="{E8779386-7ABC-423C-BFD5-963C7E0A1F1F}"/>
              </a:ext>
            </a:extLst>
          </p:cNvPr>
          <p:cNvSpPr>
            <a:spLocks xmlns:a="http://schemas.openxmlformats.org/drawingml/2006/main" noGrp="1"/>
          </p:cNvSpPr>
          <p:nvPr/>
        </p:nvSpPr>
        <p:spPr>
          <a:xfrm xmlns:a="http://schemas.openxmlformats.org/drawingml/2006/main">
            <a:off x="7962900" y="2247900"/>
            <a:ext cx="9525" cy="34766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20" name="">
            <a:extLst xmlns:a="http://schemas.openxmlformats.org/drawingml/2006/main">
              <a:ext uri="{FF2B5EF4-FFF2-40B4-BE49-F238E27FC236}">
                <a16:creationId xmlns:a16="http://schemas.microsoft.com/office/drawing/2014/main" id="{45FA7A15-731A-44F6-86F0-1AB9FA807546}"/>
              </a:ext>
            </a:extLst>
          </p:cNvPr>
          <p:cNvSpPr>
            <a:spLocks xmlns:a="http://schemas.openxmlformats.org/drawingml/2006/main" noGrp="1"/>
          </p:cNvSpPr>
          <p:nvPr/>
        </p:nvSpPr>
        <p:spPr>
          <a:xfrm xmlns:a="http://schemas.openxmlformats.org/drawingml/2006/main">
            <a:off x="8286750" y="2266950"/>
            <a:ext cx="70485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400" b="1">
                <a:solidFill>
                  <a:srgbClr val="1F5A43"/>
                </a:solidFill>
              </a:defRPr>
            </a:pPr>
            <a:r>
              <a:rPr sz="2400" b="1">
                <a:solidFill>
                  <a:srgbClr val="1F5A43"/>
                </a:solidFill>
              </a:rPr>
              <a:t>03</a:t>
            </a:r>
          </a:p>
        </p:txBody>
      </p:sp>
      <p:sp>
        <p:nvSpPr>
          <p:cNvPr id="21" name="">
            <a:extLst xmlns:a="http://schemas.openxmlformats.org/drawingml/2006/main">
              <a:ext uri="{FF2B5EF4-FFF2-40B4-BE49-F238E27FC236}">
                <a16:creationId xmlns:a16="http://schemas.microsoft.com/office/drawing/2014/main" id="{5E6072CB-7151-41DC-B9BD-05EECF5608F9}"/>
              </a:ext>
            </a:extLst>
          </p:cNvPr>
          <p:cNvSpPr>
            <a:spLocks xmlns:a="http://schemas.openxmlformats.org/drawingml/2006/main" noGrp="1"/>
          </p:cNvSpPr>
          <p:nvPr/>
        </p:nvSpPr>
        <p:spPr>
          <a:xfrm xmlns:a="http://schemas.openxmlformats.org/drawingml/2006/main">
            <a:off x="8286750" y="2895600"/>
            <a:ext cx="3143250" cy="5334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75" b="1">
                <a:solidFill>
                  <a:srgbClr val="16382E"/>
                </a:solidFill>
              </a:defRPr>
            </a:pPr>
            <a:r>
              <a:rPr sz="1875" b="1">
                <a:solidFill>
                  <a:srgbClr val="16382E"/>
                </a:solidFill>
              </a:rPr>
              <a:t>Roles &amp; setup</a:t>
            </a:r>
          </a:p>
        </p:txBody>
      </p:sp>
      <p:sp>
        <p:nvSpPr>
          <p:cNvPr id="22" name="">
            <a:extLst xmlns:a="http://schemas.openxmlformats.org/drawingml/2006/main">
              <a:ext uri="{FF2B5EF4-FFF2-40B4-BE49-F238E27FC236}">
                <a16:creationId xmlns:a16="http://schemas.microsoft.com/office/drawing/2014/main" id="{337397D3-D45E-4169-9C5D-0A8FC301A74C}"/>
              </a:ext>
            </a:extLst>
          </p:cNvPr>
          <p:cNvSpPr>
            <a:spLocks xmlns:a="http://schemas.openxmlformats.org/drawingml/2006/main" noGrp="1"/>
          </p:cNvSpPr>
          <p:nvPr/>
        </p:nvSpPr>
        <p:spPr>
          <a:xfrm xmlns:a="http://schemas.openxmlformats.org/drawingml/2006/main">
            <a:off x="8286750" y="3590925"/>
            <a:ext cx="609600" cy="38100"/>
          </a:xfrm>
          <a:prstGeom xmlns:a="http://schemas.openxmlformats.org/drawingml/2006/main" prst="rect">
            <a:avLst/>
          </a:prstGeom>
          <a:solidFill xmlns:a="http://schemas.openxmlformats.org/drawingml/2006/main">
            <a:srgbClr val="DDE9DF"/>
          </a:solidFill>
          <a:ln xmlns:a="http://schemas.openxmlformats.org/drawingml/2006/main">
            <a:solidFill>
              <a:srgbClr val="DDE9DF"/>
            </a:solidFill>
          </a:ln>
        </p:spPr>
      </p:sp>
      <p:sp>
        <p:nvSpPr>
          <p:cNvPr id="23" name="">
            <a:extLst xmlns:a="http://schemas.openxmlformats.org/drawingml/2006/main">
              <a:ext uri="{FF2B5EF4-FFF2-40B4-BE49-F238E27FC236}">
                <a16:creationId xmlns:a16="http://schemas.microsoft.com/office/drawing/2014/main" id="{6BC91138-5578-4D47-A7F8-815E793D3BE6}"/>
              </a:ext>
            </a:extLst>
          </p:cNvPr>
          <p:cNvSpPr>
            <a:spLocks xmlns:a="http://schemas.openxmlformats.org/drawingml/2006/main" noGrp="1"/>
          </p:cNvSpPr>
          <p:nvPr/>
        </p:nvSpPr>
        <p:spPr>
          <a:xfrm xmlns:a="http://schemas.openxmlformats.org/drawingml/2006/main">
            <a:off x="8286750" y="3867150"/>
            <a:ext cx="3143250" cy="704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800" b="1">
                <a:solidFill>
                  <a:srgbClr val="1F5A43"/>
                </a:solidFill>
              </a:defRPr>
            </a:pPr>
            <a:r>
              <a:rPr sz="1800" b="1">
                <a:solidFill>
                  <a:srgbClr val="1F5A43"/>
                </a:solidFill>
              </a:rPr>
              <a:t>Invites &amp; Access</a:t>
            </a:r>
          </a:p>
          <a:p xmlns:a="http://schemas.openxmlformats.org/drawingml/2006/main">
            <a:pPr algn="l">
              <a:defRPr sz="1800" b="1">
                <a:solidFill>
                  <a:srgbClr val="1F5A43"/>
                </a:solidFill>
              </a:defRPr>
            </a:pPr>
            <a:r>
              <a:rPr sz="1800" b="1">
                <a:solidFill>
                  <a:srgbClr val="1F5A43"/>
                </a:solidFill>
              </a:rPr>
              <a:t>Settings</a:t>
            </a:r>
          </a:p>
        </p:txBody>
      </p:sp>
      <p:sp>
        <p:nvSpPr>
          <p:cNvPr id="24" name="">
            <a:extLst xmlns:a="http://schemas.openxmlformats.org/drawingml/2006/main">
              <a:ext uri="{FF2B5EF4-FFF2-40B4-BE49-F238E27FC236}">
                <a16:creationId xmlns:a16="http://schemas.microsoft.com/office/drawing/2014/main" id="{345D054A-07A9-4E7A-8267-8C3F19C8C7B8}"/>
              </a:ext>
            </a:extLst>
          </p:cNvPr>
          <p:cNvSpPr>
            <a:spLocks xmlns:a="http://schemas.openxmlformats.org/drawingml/2006/main" noGrp="1"/>
          </p:cNvSpPr>
          <p:nvPr/>
        </p:nvSpPr>
        <p:spPr>
          <a:xfrm xmlns:a="http://schemas.openxmlformats.org/drawingml/2006/main">
            <a:off x="8286750" y="4819650"/>
            <a:ext cx="3048000" cy="7429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0">
                <a:solidFill>
                  <a:srgbClr val="63736D"/>
                </a:solidFill>
              </a:defRPr>
            </a:pPr>
            <a:r>
              <a:rPr sz="1275" b="0">
                <a:solidFill>
                  <a:srgbClr val="63736D"/>
                </a:solidFill>
              </a:rPr>
              <a:t>Who can enter and how the workspace is configured.</a:t>
            </a:r>
          </a:p>
        </p:txBody>
      </p:sp>
    </p:spTree>
    <p:transition spd="med" advClick="1">
      <p:fade/>
    </p:transition>
    <p:extLst>
      <p:ext uri="{BB962C8B-B14F-4D97-AF65-F5344CB8AC3E}">
        <p14:creationId xmlns:p14="http://schemas.microsoft.com/office/powerpoint/2010/main" val="367765685"/>
      </p:ext>
    </p:extLst>
  </p:cSld>
</p:sld>
</file>

<file path=ppt/slides/slide8.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E50E8F4-24A0-48DD-9CE9-6998F40AF7B8}"/>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ADMINISTRATOR TUTORIAL</a:t>
            </a:r>
          </a:p>
        </p:txBody>
      </p:sp>
      <p:sp>
        <p:nvSpPr>
          <p:cNvPr id="2" name="">
            <a:extLst xmlns:a="http://schemas.openxmlformats.org/drawingml/2006/main">
              <a:ext uri="{FF2B5EF4-FFF2-40B4-BE49-F238E27FC236}">
                <a16:creationId xmlns:a16="http://schemas.microsoft.com/office/drawing/2014/main" id="{199ACCA3-0466-41B9-AB21-A3B1CCF40F9F}"/>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27173563-B361-4DCA-AB6D-6892125D8478}"/>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Assign access with purpose</a:t>
            </a:r>
          </a:p>
        </p:txBody>
      </p:sp>
      <p:sp>
        <p:nvSpPr>
          <p:cNvPr id="4" name="">
            <a:extLst xmlns:a="http://schemas.openxmlformats.org/drawingml/2006/main">
              <a:ext uri="{FF2B5EF4-FFF2-40B4-BE49-F238E27FC236}">
                <a16:creationId xmlns:a16="http://schemas.microsoft.com/office/drawing/2014/main" id="{D43A3C10-3321-41FE-BDD9-791598FAFF46}"/>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Before adding access, identify the responsibility—and avoid shared credentials.</a:t>
            </a:r>
          </a:p>
        </p:txBody>
      </p:sp>
      <p:sp>
        <p:nvSpPr>
          <p:cNvPr id="5" name="">
            <a:extLst xmlns:a="http://schemas.openxmlformats.org/drawingml/2006/main">
              <a:ext uri="{FF2B5EF4-FFF2-40B4-BE49-F238E27FC236}">
                <a16:creationId xmlns:a16="http://schemas.microsoft.com/office/drawing/2014/main" id="{E14BC654-ECDB-46E9-93B4-4FF34B88E0B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3814819D-D499-4CB9-954D-2D1FD0C22199}"/>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3F020C95-24E5-4CAB-B51E-120CE99687CC}"/>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08</a:t>
            </a:r>
          </a:p>
        </p:txBody>
      </p:sp>
      <p:sp>
        <p:nvSpPr>
          <p:cNvPr id="8" name="">
            <a:extLst xmlns:a="http://schemas.openxmlformats.org/drawingml/2006/main">
              <a:ext uri="{FF2B5EF4-FFF2-40B4-BE49-F238E27FC236}">
                <a16:creationId xmlns:a16="http://schemas.microsoft.com/office/drawing/2014/main" id="{45D561D1-A737-4B2A-A303-8D17B44DEC4A}"/>
              </a:ext>
            </a:extLst>
          </p:cNvPr>
          <p:cNvSpPr>
            <a:spLocks xmlns:a="http://schemas.openxmlformats.org/drawingml/2006/main" noGrp="1"/>
          </p:cNvSpPr>
          <p:nvPr/>
        </p:nvSpPr>
        <p:spPr>
          <a:xfrm xmlns:a="http://schemas.openxmlformats.org/drawingml/2006/main">
            <a:off x="609600" y="2133600"/>
            <a:ext cx="7334250" cy="3829050"/>
          </a:xfrm>
          <a:prstGeom xmlns:a="http://schemas.openxmlformats.org/drawingml/2006/main" prst="roundRect">
            <a:avLst>
              <a:gd name="adj" fmla="val 5473"/>
            </a:avLst>
          </a:prstGeom>
          <a:solidFill xmlns:a="http://schemas.openxmlformats.org/drawingml/2006/main">
            <a:srgbClr val="FFFDFC"/>
          </a:solidFill>
          <a:ln xmlns:a="http://schemas.openxmlformats.org/drawingml/2006/main" w="9525">
            <a:solidFill>
              <a:srgbClr val="CBD6CF"/>
            </a:solidFill>
          </a:ln>
        </p:spPr>
      </p:sp>
      <p:sp>
        <p:nvSpPr>
          <p:cNvPr id="9" name="">
            <a:extLst xmlns:a="http://schemas.openxmlformats.org/drawingml/2006/main">
              <a:ext uri="{FF2B5EF4-FFF2-40B4-BE49-F238E27FC236}">
                <a16:creationId xmlns:a16="http://schemas.microsoft.com/office/drawing/2014/main" id="{527AC11C-395E-4366-8D35-F7DF322249D6}"/>
              </a:ext>
            </a:extLst>
          </p:cNvPr>
          <p:cNvSpPr>
            <a:spLocks xmlns:a="http://schemas.openxmlformats.org/drawingml/2006/main" noGrp="1"/>
          </p:cNvSpPr>
          <p:nvPr/>
        </p:nvSpPr>
        <p:spPr>
          <a:xfrm xmlns:a="http://schemas.openxmlformats.org/drawingml/2006/main">
            <a:off x="1057275" y="2838450"/>
            <a:ext cx="38100" cy="361950"/>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10" name="">
            <a:extLst xmlns:a="http://schemas.openxmlformats.org/drawingml/2006/main">
              <a:ext uri="{FF2B5EF4-FFF2-40B4-BE49-F238E27FC236}">
                <a16:creationId xmlns:a16="http://schemas.microsoft.com/office/drawing/2014/main" id="{3E33CFC7-B301-49B6-8F0A-021EEB0B7FCD}"/>
              </a:ext>
            </a:extLst>
          </p:cNvPr>
          <p:cNvSpPr>
            <a:spLocks xmlns:a="http://schemas.openxmlformats.org/drawingml/2006/main" noGrp="1"/>
          </p:cNvSpPr>
          <p:nvPr/>
        </p:nvSpPr>
        <p:spPr>
          <a:xfrm xmlns:a="http://schemas.openxmlformats.org/drawingml/2006/main">
            <a:off x="876300" y="2381250"/>
            <a:ext cx="400050" cy="4000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1" name="">
            <a:extLst xmlns:a="http://schemas.openxmlformats.org/drawingml/2006/main">
              <a:ext uri="{FF2B5EF4-FFF2-40B4-BE49-F238E27FC236}">
                <a16:creationId xmlns:a16="http://schemas.microsoft.com/office/drawing/2014/main" id="{C69B4C09-ADEE-49F9-AC59-CD9893B1F96F}"/>
              </a:ext>
            </a:extLst>
          </p:cNvPr>
          <p:cNvSpPr>
            <a:spLocks xmlns:a="http://schemas.openxmlformats.org/drawingml/2006/main" noGrp="1"/>
          </p:cNvSpPr>
          <p:nvPr/>
        </p:nvSpPr>
        <p:spPr>
          <a:xfrm xmlns:a="http://schemas.openxmlformats.org/drawingml/2006/main">
            <a:off x="876300" y="2381250"/>
            <a:ext cx="4000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2" name="">
            <a:extLst xmlns:a="http://schemas.openxmlformats.org/drawingml/2006/main">
              <a:ext uri="{FF2B5EF4-FFF2-40B4-BE49-F238E27FC236}">
                <a16:creationId xmlns:a16="http://schemas.microsoft.com/office/drawing/2014/main" id="{336413D5-57E5-41F2-9243-B7BD5B95BFE3}"/>
              </a:ext>
            </a:extLst>
          </p:cNvPr>
          <p:cNvSpPr>
            <a:spLocks xmlns:a="http://schemas.openxmlformats.org/drawingml/2006/main" noGrp="1"/>
          </p:cNvSpPr>
          <p:nvPr/>
        </p:nvSpPr>
        <p:spPr>
          <a:xfrm xmlns:a="http://schemas.openxmlformats.org/drawingml/2006/main">
            <a:off x="1466850" y="2362200"/>
            <a:ext cx="33528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Open Invites &amp; Access</a:t>
            </a:r>
          </a:p>
        </p:txBody>
      </p:sp>
      <p:sp>
        <p:nvSpPr>
          <p:cNvPr id="13" name="">
            <a:extLst xmlns:a="http://schemas.openxmlformats.org/drawingml/2006/main">
              <a:ext uri="{FF2B5EF4-FFF2-40B4-BE49-F238E27FC236}">
                <a16:creationId xmlns:a16="http://schemas.microsoft.com/office/drawing/2014/main" id="{214C18B0-24BF-4C26-AE95-73754972A755}"/>
              </a:ext>
            </a:extLst>
          </p:cNvPr>
          <p:cNvSpPr>
            <a:spLocks xmlns:a="http://schemas.openxmlformats.org/drawingml/2006/main" noGrp="1"/>
          </p:cNvSpPr>
          <p:nvPr/>
        </p:nvSpPr>
        <p:spPr>
          <a:xfrm xmlns:a="http://schemas.openxmlformats.org/drawingml/2006/main">
            <a:off x="1466850" y="2647950"/>
            <a:ext cx="4953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0">
                <a:solidFill>
                  <a:srgbClr val="63736D"/>
                </a:solidFill>
              </a:defRPr>
            </a:pPr>
            <a:r>
              <a:rPr sz="1125" b="0">
                <a:solidFill>
                  <a:srgbClr val="63736D"/>
                </a:solidFill>
              </a:rPr>
              <a:t>Administration navigation</a:t>
            </a:r>
          </a:p>
        </p:txBody>
      </p:sp>
      <p:sp>
        <p:nvSpPr>
          <p:cNvPr id="14" name="">
            <a:extLst xmlns:a="http://schemas.openxmlformats.org/drawingml/2006/main">
              <a:ext uri="{FF2B5EF4-FFF2-40B4-BE49-F238E27FC236}">
                <a16:creationId xmlns:a16="http://schemas.microsoft.com/office/drawing/2014/main" id="{7FC1726F-9C15-42D3-A881-AF5B1D42370D}"/>
              </a:ext>
            </a:extLst>
          </p:cNvPr>
          <p:cNvSpPr>
            <a:spLocks xmlns:a="http://schemas.openxmlformats.org/drawingml/2006/main" noGrp="1"/>
          </p:cNvSpPr>
          <p:nvPr/>
        </p:nvSpPr>
        <p:spPr>
          <a:xfrm xmlns:a="http://schemas.openxmlformats.org/drawingml/2006/main">
            <a:off x="1057275" y="3657600"/>
            <a:ext cx="38100" cy="361950"/>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15" name="">
            <a:extLst xmlns:a="http://schemas.openxmlformats.org/drawingml/2006/main">
              <a:ext uri="{FF2B5EF4-FFF2-40B4-BE49-F238E27FC236}">
                <a16:creationId xmlns:a16="http://schemas.microsoft.com/office/drawing/2014/main" id="{2D868AE5-3710-45B1-A968-7551CA8F4F97}"/>
              </a:ext>
            </a:extLst>
          </p:cNvPr>
          <p:cNvSpPr>
            <a:spLocks xmlns:a="http://schemas.openxmlformats.org/drawingml/2006/main" noGrp="1"/>
          </p:cNvSpPr>
          <p:nvPr/>
        </p:nvSpPr>
        <p:spPr>
          <a:xfrm xmlns:a="http://schemas.openxmlformats.org/drawingml/2006/main">
            <a:off x="876300" y="3200400"/>
            <a:ext cx="400050" cy="4000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6" name="">
            <a:extLst xmlns:a="http://schemas.openxmlformats.org/drawingml/2006/main">
              <a:ext uri="{FF2B5EF4-FFF2-40B4-BE49-F238E27FC236}">
                <a16:creationId xmlns:a16="http://schemas.microsoft.com/office/drawing/2014/main" id="{25BB2947-96B8-4B20-BB92-63DEF5486CE2}"/>
              </a:ext>
            </a:extLst>
          </p:cNvPr>
          <p:cNvSpPr>
            <a:spLocks xmlns:a="http://schemas.openxmlformats.org/drawingml/2006/main" noGrp="1"/>
          </p:cNvSpPr>
          <p:nvPr/>
        </p:nvSpPr>
        <p:spPr>
          <a:xfrm xmlns:a="http://schemas.openxmlformats.org/drawingml/2006/main">
            <a:off x="876300" y="3200400"/>
            <a:ext cx="4000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7" name="">
            <a:extLst xmlns:a="http://schemas.openxmlformats.org/drawingml/2006/main">
              <a:ext uri="{FF2B5EF4-FFF2-40B4-BE49-F238E27FC236}">
                <a16:creationId xmlns:a16="http://schemas.microsoft.com/office/drawing/2014/main" id="{3C609B3A-F673-4261-8D50-5E4FE9141850}"/>
              </a:ext>
            </a:extLst>
          </p:cNvPr>
          <p:cNvSpPr>
            <a:spLocks xmlns:a="http://schemas.openxmlformats.org/drawingml/2006/main" noGrp="1"/>
          </p:cNvSpPr>
          <p:nvPr/>
        </p:nvSpPr>
        <p:spPr>
          <a:xfrm xmlns:a="http://schemas.openxmlformats.org/drawingml/2006/main">
            <a:off x="1466850" y="3181350"/>
            <a:ext cx="33528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Find the person or invite</a:t>
            </a:r>
          </a:p>
        </p:txBody>
      </p:sp>
      <p:sp>
        <p:nvSpPr>
          <p:cNvPr id="18" name="">
            <a:extLst xmlns:a="http://schemas.openxmlformats.org/drawingml/2006/main">
              <a:ext uri="{FF2B5EF4-FFF2-40B4-BE49-F238E27FC236}">
                <a16:creationId xmlns:a16="http://schemas.microsoft.com/office/drawing/2014/main" id="{705043FD-FCB2-4334-A570-F7320A82A792}"/>
              </a:ext>
            </a:extLst>
          </p:cNvPr>
          <p:cNvSpPr>
            <a:spLocks xmlns:a="http://schemas.openxmlformats.org/drawingml/2006/main" noGrp="1"/>
          </p:cNvSpPr>
          <p:nvPr/>
        </p:nvSpPr>
        <p:spPr>
          <a:xfrm xmlns:a="http://schemas.openxmlformats.org/drawingml/2006/main">
            <a:off x="1466850" y="3467100"/>
            <a:ext cx="4953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0">
                <a:solidFill>
                  <a:srgbClr val="63736D"/>
                </a:solidFill>
              </a:defRPr>
            </a:pPr>
            <a:r>
              <a:rPr sz="1125" b="0">
                <a:solidFill>
                  <a:srgbClr val="63736D"/>
                </a:solidFill>
              </a:rPr>
              <a:t>Confirm the correct identity</a:t>
            </a:r>
          </a:p>
        </p:txBody>
      </p:sp>
      <p:sp>
        <p:nvSpPr>
          <p:cNvPr id="19" name="">
            <a:extLst xmlns:a="http://schemas.openxmlformats.org/drawingml/2006/main">
              <a:ext uri="{FF2B5EF4-FFF2-40B4-BE49-F238E27FC236}">
                <a16:creationId xmlns:a16="http://schemas.microsoft.com/office/drawing/2014/main" id="{115B84E3-1440-4B2D-9ABF-CB2143975708}"/>
              </a:ext>
            </a:extLst>
          </p:cNvPr>
          <p:cNvSpPr>
            <a:spLocks xmlns:a="http://schemas.openxmlformats.org/drawingml/2006/main" noGrp="1"/>
          </p:cNvSpPr>
          <p:nvPr/>
        </p:nvSpPr>
        <p:spPr>
          <a:xfrm xmlns:a="http://schemas.openxmlformats.org/drawingml/2006/main">
            <a:off x="1057275" y="4476750"/>
            <a:ext cx="38100" cy="361950"/>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20" name="">
            <a:extLst xmlns:a="http://schemas.openxmlformats.org/drawingml/2006/main">
              <a:ext uri="{FF2B5EF4-FFF2-40B4-BE49-F238E27FC236}">
                <a16:creationId xmlns:a16="http://schemas.microsoft.com/office/drawing/2014/main" id="{8D88DCC4-8BE4-4D30-9C88-8A3794230378}"/>
              </a:ext>
            </a:extLst>
          </p:cNvPr>
          <p:cNvSpPr>
            <a:spLocks xmlns:a="http://schemas.openxmlformats.org/drawingml/2006/main" noGrp="1"/>
          </p:cNvSpPr>
          <p:nvPr/>
        </p:nvSpPr>
        <p:spPr>
          <a:xfrm xmlns:a="http://schemas.openxmlformats.org/drawingml/2006/main">
            <a:off x="876300" y="4019550"/>
            <a:ext cx="400050" cy="4000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21" name="">
            <a:extLst xmlns:a="http://schemas.openxmlformats.org/drawingml/2006/main">
              <a:ext uri="{FF2B5EF4-FFF2-40B4-BE49-F238E27FC236}">
                <a16:creationId xmlns:a16="http://schemas.microsoft.com/office/drawing/2014/main" id="{B8A59358-4481-4A0E-84A6-D31C496B8990}"/>
              </a:ext>
            </a:extLst>
          </p:cNvPr>
          <p:cNvSpPr>
            <a:spLocks xmlns:a="http://schemas.openxmlformats.org/drawingml/2006/main" noGrp="1"/>
          </p:cNvSpPr>
          <p:nvPr/>
        </p:nvSpPr>
        <p:spPr>
          <a:xfrm xmlns:a="http://schemas.openxmlformats.org/drawingml/2006/main">
            <a:off x="876300" y="4019550"/>
            <a:ext cx="4000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22" name="">
            <a:extLst xmlns:a="http://schemas.openxmlformats.org/drawingml/2006/main">
              <a:ext uri="{FF2B5EF4-FFF2-40B4-BE49-F238E27FC236}">
                <a16:creationId xmlns:a16="http://schemas.microsoft.com/office/drawing/2014/main" id="{EE45B6B4-82FF-46DA-BECD-B676CE06CE67}"/>
              </a:ext>
            </a:extLst>
          </p:cNvPr>
          <p:cNvSpPr>
            <a:spLocks xmlns:a="http://schemas.openxmlformats.org/drawingml/2006/main" noGrp="1"/>
          </p:cNvSpPr>
          <p:nvPr/>
        </p:nvSpPr>
        <p:spPr>
          <a:xfrm xmlns:a="http://schemas.openxmlformats.org/drawingml/2006/main">
            <a:off x="1466850" y="4000500"/>
            <a:ext cx="33528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Choose the needed role</a:t>
            </a:r>
          </a:p>
        </p:txBody>
      </p:sp>
      <p:sp>
        <p:nvSpPr>
          <p:cNvPr id="23" name="">
            <a:extLst xmlns:a="http://schemas.openxmlformats.org/drawingml/2006/main">
              <a:ext uri="{FF2B5EF4-FFF2-40B4-BE49-F238E27FC236}">
                <a16:creationId xmlns:a16="http://schemas.microsoft.com/office/drawing/2014/main" id="{99F61EDC-5BB8-4A5B-BA6E-9DFD7B915351}"/>
              </a:ext>
            </a:extLst>
          </p:cNvPr>
          <p:cNvSpPr>
            <a:spLocks xmlns:a="http://schemas.openxmlformats.org/drawingml/2006/main" noGrp="1"/>
          </p:cNvSpPr>
          <p:nvPr/>
        </p:nvSpPr>
        <p:spPr>
          <a:xfrm xmlns:a="http://schemas.openxmlformats.org/drawingml/2006/main">
            <a:off x="1466850" y="4286250"/>
            <a:ext cx="4953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0">
                <a:solidFill>
                  <a:srgbClr val="63736D"/>
                </a:solidFill>
              </a:defRPr>
            </a:pPr>
            <a:r>
              <a:rPr sz="1125" b="0">
                <a:solidFill>
                  <a:srgbClr val="63736D"/>
                </a:solidFill>
              </a:rPr>
              <a:t>Match real responsibility</a:t>
            </a:r>
          </a:p>
        </p:txBody>
      </p:sp>
      <p:sp>
        <p:nvSpPr>
          <p:cNvPr id="24" name="">
            <a:extLst xmlns:a="http://schemas.openxmlformats.org/drawingml/2006/main">
              <a:ext uri="{FF2B5EF4-FFF2-40B4-BE49-F238E27FC236}">
                <a16:creationId xmlns:a16="http://schemas.microsoft.com/office/drawing/2014/main" id="{FE7AB61A-1B05-49EA-A1D0-787ABF2A030D}"/>
              </a:ext>
            </a:extLst>
          </p:cNvPr>
          <p:cNvSpPr>
            <a:spLocks xmlns:a="http://schemas.openxmlformats.org/drawingml/2006/main" noGrp="1"/>
          </p:cNvSpPr>
          <p:nvPr/>
        </p:nvSpPr>
        <p:spPr>
          <a:xfrm xmlns:a="http://schemas.openxmlformats.org/drawingml/2006/main">
            <a:off x="876300" y="4838700"/>
            <a:ext cx="400050" cy="4000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25" name="">
            <a:extLst xmlns:a="http://schemas.openxmlformats.org/drawingml/2006/main">
              <a:ext uri="{FF2B5EF4-FFF2-40B4-BE49-F238E27FC236}">
                <a16:creationId xmlns:a16="http://schemas.microsoft.com/office/drawing/2014/main" id="{06238BC8-DDB5-4E1B-B377-86D52EE85694}"/>
              </a:ext>
            </a:extLst>
          </p:cNvPr>
          <p:cNvSpPr>
            <a:spLocks xmlns:a="http://schemas.openxmlformats.org/drawingml/2006/main" noGrp="1"/>
          </p:cNvSpPr>
          <p:nvPr/>
        </p:nvSpPr>
        <p:spPr>
          <a:xfrm xmlns:a="http://schemas.openxmlformats.org/drawingml/2006/main">
            <a:off x="876300" y="4838700"/>
            <a:ext cx="400050" cy="400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6" name="">
            <a:extLst xmlns:a="http://schemas.openxmlformats.org/drawingml/2006/main">
              <a:ext uri="{FF2B5EF4-FFF2-40B4-BE49-F238E27FC236}">
                <a16:creationId xmlns:a16="http://schemas.microsoft.com/office/drawing/2014/main" id="{E6FF49D7-1631-427D-8453-E02568EF6855}"/>
              </a:ext>
            </a:extLst>
          </p:cNvPr>
          <p:cNvSpPr>
            <a:spLocks xmlns:a="http://schemas.openxmlformats.org/drawingml/2006/main" noGrp="1"/>
          </p:cNvSpPr>
          <p:nvPr/>
        </p:nvSpPr>
        <p:spPr>
          <a:xfrm xmlns:a="http://schemas.openxmlformats.org/drawingml/2006/main">
            <a:off x="1466850" y="4819650"/>
            <a:ext cx="33528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575" b="1">
                <a:solidFill>
                  <a:srgbClr val="16382E"/>
                </a:solidFill>
              </a:defRPr>
            </a:pPr>
            <a:r>
              <a:rPr sz="1575" b="1">
                <a:solidFill>
                  <a:srgbClr val="16382E"/>
                </a:solidFill>
              </a:rPr>
              <a:t>Review and save</a:t>
            </a:r>
          </a:p>
        </p:txBody>
      </p:sp>
      <p:sp>
        <p:nvSpPr>
          <p:cNvPr id="27" name="">
            <a:extLst xmlns:a="http://schemas.openxmlformats.org/drawingml/2006/main">
              <a:ext uri="{FF2B5EF4-FFF2-40B4-BE49-F238E27FC236}">
                <a16:creationId xmlns:a16="http://schemas.microsoft.com/office/drawing/2014/main" id="{008E6D82-BD73-46F4-A389-41A35F192CF1}"/>
              </a:ext>
            </a:extLst>
          </p:cNvPr>
          <p:cNvSpPr>
            <a:spLocks xmlns:a="http://schemas.openxmlformats.org/drawingml/2006/main" noGrp="1"/>
          </p:cNvSpPr>
          <p:nvPr/>
        </p:nvSpPr>
        <p:spPr>
          <a:xfrm xmlns:a="http://schemas.openxmlformats.org/drawingml/2006/main">
            <a:off x="1466850" y="5105400"/>
            <a:ext cx="4953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125" b="0">
                <a:solidFill>
                  <a:srgbClr val="63736D"/>
                </a:solidFill>
              </a:defRPr>
            </a:pPr>
            <a:r>
              <a:rPr sz="1125" b="0">
                <a:solidFill>
                  <a:srgbClr val="63736D"/>
                </a:solidFill>
              </a:rPr>
              <a:t>Recheck before confirming</a:t>
            </a:r>
          </a:p>
        </p:txBody>
      </p:sp>
      <p:sp>
        <p:nvSpPr>
          <p:cNvPr id="28" name="">
            <a:extLst xmlns:a="http://schemas.openxmlformats.org/drawingml/2006/main">
              <a:ext uri="{FF2B5EF4-FFF2-40B4-BE49-F238E27FC236}">
                <a16:creationId xmlns:a16="http://schemas.microsoft.com/office/drawing/2014/main" id="{D333EAD1-A033-4502-B2FD-0179713F0A2A}"/>
              </a:ext>
            </a:extLst>
          </p:cNvPr>
          <p:cNvSpPr>
            <a:spLocks xmlns:a="http://schemas.openxmlformats.org/drawingml/2006/main" noGrp="1"/>
          </p:cNvSpPr>
          <p:nvPr/>
        </p:nvSpPr>
        <p:spPr>
          <a:xfrm xmlns:a="http://schemas.openxmlformats.org/drawingml/2006/main">
            <a:off x="8248650" y="2133600"/>
            <a:ext cx="3333750" cy="3829050"/>
          </a:xfrm>
          <a:prstGeom xmlns:a="http://schemas.openxmlformats.org/drawingml/2006/main" prst="roundRect">
            <a:avLst>
              <a:gd name="adj" fmla="val 6286"/>
            </a:avLst>
          </a:prstGeom>
          <a:solidFill xmlns:a="http://schemas.openxmlformats.org/drawingml/2006/main">
            <a:srgbClr val="0E4434"/>
          </a:solidFill>
          <a:ln xmlns:a="http://schemas.openxmlformats.org/drawingml/2006/main">
            <a:solidFill>
              <a:srgbClr val="0E4434"/>
            </a:solidFill>
          </a:ln>
        </p:spPr>
      </p:sp>
      <p:sp>
        <p:nvSpPr>
          <p:cNvPr id="29" name="">
            <a:extLst xmlns:a="http://schemas.openxmlformats.org/drawingml/2006/main">
              <a:ext uri="{FF2B5EF4-FFF2-40B4-BE49-F238E27FC236}">
                <a16:creationId xmlns:a16="http://schemas.microsoft.com/office/drawing/2014/main" id="{914D6E30-D279-460A-98D6-3B5737BD4F25}"/>
              </a:ext>
            </a:extLst>
          </p:cNvPr>
          <p:cNvSpPr>
            <a:spLocks xmlns:a="http://schemas.openxmlformats.org/drawingml/2006/main" noGrp="1"/>
          </p:cNvSpPr>
          <p:nvPr/>
        </p:nvSpPr>
        <p:spPr>
          <a:xfrm xmlns:a="http://schemas.openxmlformats.org/drawingml/2006/main">
            <a:off x="8572500" y="2457450"/>
            <a:ext cx="257175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ACCESS PRINCIPLE</a:t>
            </a:r>
          </a:p>
        </p:txBody>
      </p:sp>
      <p:sp>
        <p:nvSpPr>
          <p:cNvPr id="30" name="">
            <a:extLst xmlns:a="http://schemas.openxmlformats.org/drawingml/2006/main">
              <a:ext uri="{FF2B5EF4-FFF2-40B4-BE49-F238E27FC236}">
                <a16:creationId xmlns:a16="http://schemas.microsoft.com/office/drawing/2014/main" id="{322777CE-5A81-4F6F-9E2C-54B6764E71CF}"/>
              </a:ext>
            </a:extLst>
          </p:cNvPr>
          <p:cNvSpPr>
            <a:spLocks xmlns:a="http://schemas.openxmlformats.org/drawingml/2006/main" noGrp="1"/>
          </p:cNvSpPr>
          <p:nvPr/>
        </p:nvSpPr>
        <p:spPr>
          <a:xfrm xmlns:a="http://schemas.openxmlformats.org/drawingml/2006/main">
            <a:off x="8572500" y="3009900"/>
            <a:ext cx="2609850" cy="1066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325" b="1">
                <a:solidFill>
                  <a:srgbClr val="FFFFFF"/>
                </a:solidFill>
              </a:defRPr>
            </a:pPr>
            <a:r>
              <a:rPr sz="2325" b="1">
                <a:solidFill>
                  <a:srgbClr val="FFFFFF"/>
                </a:solidFill>
              </a:rPr>
              <a:t>Enough to serve.</a:t>
            </a:r>
          </a:p>
          <a:p xmlns:a="http://schemas.openxmlformats.org/drawingml/2006/main">
            <a:pPr algn="l">
              <a:defRPr sz="2325" b="1">
                <a:solidFill>
                  <a:srgbClr val="FFFFFF"/>
                </a:solidFill>
              </a:defRPr>
            </a:pPr>
            <a:r>
              <a:rPr sz="2325" b="1">
                <a:solidFill>
                  <a:srgbClr val="FFFFFF"/>
                </a:solidFill>
              </a:rPr>
              <a:t>No more than needed.</a:t>
            </a:r>
          </a:p>
        </p:txBody>
      </p:sp>
      <p:sp>
        <p:nvSpPr>
          <p:cNvPr id="31" name="">
            <a:extLst xmlns:a="http://schemas.openxmlformats.org/drawingml/2006/main">
              <a:ext uri="{FF2B5EF4-FFF2-40B4-BE49-F238E27FC236}">
                <a16:creationId xmlns:a16="http://schemas.microsoft.com/office/drawing/2014/main" id="{2896B8FE-7E63-41F4-8584-170983A6A27B}"/>
              </a:ext>
            </a:extLst>
          </p:cNvPr>
          <p:cNvSpPr>
            <a:spLocks xmlns:a="http://schemas.openxmlformats.org/drawingml/2006/main" noGrp="1"/>
          </p:cNvSpPr>
          <p:nvPr/>
        </p:nvSpPr>
        <p:spPr>
          <a:xfrm xmlns:a="http://schemas.openxmlformats.org/drawingml/2006/main">
            <a:off x="8572500" y="4362450"/>
            <a:ext cx="66675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2" name="">
            <a:extLst xmlns:a="http://schemas.openxmlformats.org/drawingml/2006/main">
              <a:ext uri="{FF2B5EF4-FFF2-40B4-BE49-F238E27FC236}">
                <a16:creationId xmlns:a16="http://schemas.microsoft.com/office/drawing/2014/main" id="{82602367-079E-47E6-8493-C24D1DEE93A7}"/>
              </a:ext>
            </a:extLst>
          </p:cNvPr>
          <p:cNvSpPr>
            <a:spLocks xmlns:a="http://schemas.openxmlformats.org/drawingml/2006/main" noGrp="1"/>
          </p:cNvSpPr>
          <p:nvPr/>
        </p:nvSpPr>
        <p:spPr>
          <a:xfrm xmlns:a="http://schemas.openxmlformats.org/drawingml/2006/main">
            <a:off x="8572500" y="4629150"/>
            <a:ext cx="2571750" cy="685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425" b="0">
                <a:solidFill>
                  <a:srgbClr val="DDE7E2"/>
                </a:solidFill>
              </a:defRPr>
            </a:pPr>
            <a:r>
              <a:rPr sz="1425" b="0">
                <a:solidFill>
                  <a:srgbClr val="DDE7E2"/>
                </a:solidFill>
              </a:rPr>
              <a:t>Review access when responsibilities change.</a:t>
            </a:r>
          </a:p>
        </p:txBody>
      </p:sp>
    </p:spTree>
    <p:transition spd="med" advClick="1">
      <p:fade/>
    </p:transition>
    <p:extLst>
      <p:ext uri="{BB962C8B-B14F-4D97-AF65-F5344CB8AC3E}">
        <p14:creationId xmlns:p14="http://schemas.microsoft.com/office/powerpoint/2010/main" val="1993874941"/>
      </p:ext>
    </p:extLst>
  </p:cSld>
</p:sld>
</file>

<file path=ppt/slides/slide9.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FA8A666-C313-476C-8B1A-0E57B2A2D7BF}"/>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MEMBER PORTAL</a:t>
            </a:r>
          </a:p>
        </p:txBody>
      </p:sp>
      <p:sp>
        <p:nvSpPr>
          <p:cNvPr id="2" name="">
            <a:extLst xmlns:a="http://schemas.openxmlformats.org/drawingml/2006/main">
              <a:ext uri="{FF2B5EF4-FFF2-40B4-BE49-F238E27FC236}">
                <a16:creationId xmlns:a16="http://schemas.microsoft.com/office/drawing/2014/main" id="{F4153036-E27B-41D0-A8F5-A74391EEB6E1}"/>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866FF933-005F-41F0-BA4B-892D7DE63A83}"/>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A simpler, personal view of church life</a:t>
            </a:r>
          </a:p>
        </p:txBody>
      </p:sp>
      <p:sp>
        <p:nvSpPr>
          <p:cNvPr id="4" name="">
            <a:extLst xmlns:a="http://schemas.openxmlformats.org/drawingml/2006/main">
              <a:ext uri="{FF2B5EF4-FFF2-40B4-BE49-F238E27FC236}">
                <a16:creationId xmlns:a16="http://schemas.microsoft.com/office/drawing/2014/main" id="{6D98F26A-2608-4D92-BEFA-EBD003CE9273}"/>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Members see the information most relevant to them—without the administration workspace.</a:t>
            </a:r>
          </a:p>
        </p:txBody>
      </p:sp>
      <p:sp>
        <p:nvSpPr>
          <p:cNvPr id="5" name="">
            <a:extLst xmlns:a="http://schemas.openxmlformats.org/drawingml/2006/main">
              <a:ext uri="{FF2B5EF4-FFF2-40B4-BE49-F238E27FC236}">
                <a16:creationId xmlns:a16="http://schemas.microsoft.com/office/drawing/2014/main" id="{BC003F3C-F988-4B6C-8A5F-4902ADF976D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3C7628D0-2A27-49D4-B297-EFC072B885A3}"/>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0E46344F-0C54-424E-A606-985305B333FE}"/>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09</a:t>
            </a:r>
          </a:p>
        </p:txBody>
      </p:sp>
      <p:sp>
        <p:nvSpPr>
          <p:cNvPr id="8" name="">
            <a:extLst xmlns:a="http://schemas.openxmlformats.org/drawingml/2006/main">
              <a:ext uri="{FF2B5EF4-FFF2-40B4-BE49-F238E27FC236}">
                <a16:creationId xmlns:a16="http://schemas.microsoft.com/office/drawing/2014/main" id="{53CC0BD5-CAEB-4D9B-B0E4-1DF72D8C851B}"/>
              </a:ext>
            </a:extLst>
          </p:cNvPr>
          <p:cNvSpPr>
            <a:spLocks xmlns:a="http://schemas.openxmlformats.org/drawingml/2006/main" noGrp="1"/>
          </p:cNvSpPr>
          <p:nvPr/>
        </p:nvSpPr>
        <p:spPr>
          <a:xfrm xmlns:a="http://schemas.openxmlformats.org/drawingml/2006/main">
            <a:off x="609600" y="2133600"/>
            <a:ext cx="4000500" cy="3848100"/>
          </a:xfrm>
          <a:prstGeom xmlns:a="http://schemas.openxmlformats.org/drawingml/2006/main" prst="roundRect">
            <a:avLst>
              <a:gd name="adj" fmla="val 5446"/>
            </a:avLst>
          </a:prstGeom>
          <a:solidFill xmlns:a="http://schemas.openxmlformats.org/drawingml/2006/main">
            <a:srgbClr val="0E4434"/>
          </a:solidFill>
          <a:ln xmlns:a="http://schemas.openxmlformats.org/drawingml/2006/main">
            <a:solidFill>
              <a:srgbClr val="0E4434"/>
            </a:solidFill>
          </a:ln>
        </p:spPr>
      </p:sp>
      <p:sp>
        <p:nvSpPr>
          <p:cNvPr id="9" name="">
            <a:extLst xmlns:a="http://schemas.openxmlformats.org/drawingml/2006/main">
              <a:ext uri="{FF2B5EF4-FFF2-40B4-BE49-F238E27FC236}">
                <a16:creationId xmlns:a16="http://schemas.microsoft.com/office/drawing/2014/main" id="{C9AC7052-1D3D-42D4-A5F1-1D527B370ADD}"/>
              </a:ext>
            </a:extLst>
          </p:cNvPr>
          <p:cNvSpPr>
            <a:spLocks xmlns:a="http://schemas.openxmlformats.org/drawingml/2006/main" noGrp="1"/>
          </p:cNvSpPr>
          <p:nvPr/>
        </p:nvSpPr>
        <p:spPr>
          <a:xfrm xmlns:a="http://schemas.openxmlformats.org/drawingml/2006/main">
            <a:off x="933450" y="2419350"/>
            <a:ext cx="238125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FIVE MAIN AREAS</a:t>
            </a:r>
          </a:p>
        </p:txBody>
      </p:sp>
      <p:sp>
        <p:nvSpPr>
          <p:cNvPr id="10" name="">
            <a:extLst xmlns:a="http://schemas.openxmlformats.org/drawingml/2006/main">
              <a:ext uri="{FF2B5EF4-FFF2-40B4-BE49-F238E27FC236}">
                <a16:creationId xmlns:a16="http://schemas.microsoft.com/office/drawing/2014/main" id="{6BBB8806-2893-42F7-B665-DC3710D7063B}"/>
              </a:ext>
            </a:extLst>
          </p:cNvPr>
          <p:cNvSpPr>
            <a:spLocks xmlns:a="http://schemas.openxmlformats.org/drawingml/2006/main" noGrp="1"/>
          </p:cNvSpPr>
          <p:nvPr/>
        </p:nvSpPr>
        <p:spPr>
          <a:xfrm xmlns:a="http://schemas.openxmlformats.org/drawingml/2006/main">
            <a:off x="933450" y="2914650"/>
            <a:ext cx="323850" cy="3238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11" name="">
            <a:extLst xmlns:a="http://schemas.openxmlformats.org/drawingml/2006/main">
              <a:ext uri="{FF2B5EF4-FFF2-40B4-BE49-F238E27FC236}">
                <a16:creationId xmlns:a16="http://schemas.microsoft.com/office/drawing/2014/main" id="{D22825A0-CCAD-48B8-A849-B018E7573761}"/>
              </a:ext>
            </a:extLst>
          </p:cNvPr>
          <p:cNvSpPr>
            <a:spLocks xmlns:a="http://schemas.openxmlformats.org/drawingml/2006/main" noGrp="1"/>
          </p:cNvSpPr>
          <p:nvPr/>
        </p:nvSpPr>
        <p:spPr>
          <a:xfrm xmlns:a="http://schemas.openxmlformats.org/drawingml/2006/main">
            <a:off x="933450" y="2914650"/>
            <a:ext cx="3238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12" name="">
            <a:extLst xmlns:a="http://schemas.openxmlformats.org/drawingml/2006/main">
              <a:ext uri="{FF2B5EF4-FFF2-40B4-BE49-F238E27FC236}">
                <a16:creationId xmlns:a16="http://schemas.microsoft.com/office/drawing/2014/main" id="{969AE141-946F-4491-B171-307CFA34758C}"/>
              </a:ext>
            </a:extLst>
          </p:cNvPr>
          <p:cNvSpPr>
            <a:spLocks xmlns:a="http://schemas.openxmlformats.org/drawingml/2006/main" noGrp="1"/>
          </p:cNvSpPr>
          <p:nvPr/>
        </p:nvSpPr>
        <p:spPr>
          <a:xfrm xmlns:a="http://schemas.openxmlformats.org/drawingml/2006/main">
            <a:off x="1409700" y="2886075"/>
            <a:ext cx="2190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Home</a:t>
            </a:r>
          </a:p>
        </p:txBody>
      </p:sp>
      <p:sp>
        <p:nvSpPr>
          <p:cNvPr id="13" name="">
            <a:extLst xmlns:a="http://schemas.openxmlformats.org/drawingml/2006/main">
              <a:ext uri="{FF2B5EF4-FFF2-40B4-BE49-F238E27FC236}">
                <a16:creationId xmlns:a16="http://schemas.microsoft.com/office/drawing/2014/main" id="{9617508A-4EEA-4160-A7D3-14448BAB2695}"/>
              </a:ext>
            </a:extLst>
          </p:cNvPr>
          <p:cNvSpPr>
            <a:spLocks xmlns:a="http://schemas.openxmlformats.org/drawingml/2006/main" noGrp="1"/>
          </p:cNvSpPr>
          <p:nvPr/>
        </p:nvSpPr>
        <p:spPr>
          <a:xfrm xmlns:a="http://schemas.openxmlformats.org/drawingml/2006/main">
            <a:off x="933450" y="3429000"/>
            <a:ext cx="323850" cy="323850"/>
          </a:xfrm>
          <a:prstGeom xmlns:a="http://schemas.openxmlformats.org/drawingml/2006/main" prst="ellipse">
            <a:avLst/>
          </a:prstGeom>
          <a:solidFill xmlns:a="http://schemas.openxmlformats.org/drawingml/2006/main">
            <a:srgbClr val="2D6C55"/>
          </a:solidFill>
          <a:ln xmlns:a="http://schemas.openxmlformats.org/drawingml/2006/main">
            <a:solidFill>
              <a:srgbClr val="2D6C55"/>
            </a:solidFill>
          </a:ln>
        </p:spPr>
      </p:sp>
      <p:sp>
        <p:nvSpPr>
          <p:cNvPr id="14" name="">
            <a:extLst xmlns:a="http://schemas.openxmlformats.org/drawingml/2006/main">
              <a:ext uri="{FF2B5EF4-FFF2-40B4-BE49-F238E27FC236}">
                <a16:creationId xmlns:a16="http://schemas.microsoft.com/office/drawing/2014/main" id="{83340A68-1AF2-4C52-9250-55A269115989}"/>
              </a:ext>
            </a:extLst>
          </p:cNvPr>
          <p:cNvSpPr>
            <a:spLocks xmlns:a="http://schemas.openxmlformats.org/drawingml/2006/main" noGrp="1"/>
          </p:cNvSpPr>
          <p:nvPr/>
        </p:nvSpPr>
        <p:spPr>
          <a:xfrm xmlns:a="http://schemas.openxmlformats.org/drawingml/2006/main">
            <a:off x="933450" y="3429000"/>
            <a:ext cx="3238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5" name="">
            <a:extLst xmlns:a="http://schemas.openxmlformats.org/drawingml/2006/main">
              <a:ext uri="{FF2B5EF4-FFF2-40B4-BE49-F238E27FC236}">
                <a16:creationId xmlns:a16="http://schemas.microsoft.com/office/drawing/2014/main" id="{B9B58A45-A4E0-4644-896D-46EAAC46916E}"/>
              </a:ext>
            </a:extLst>
          </p:cNvPr>
          <p:cNvSpPr>
            <a:spLocks xmlns:a="http://schemas.openxmlformats.org/drawingml/2006/main" noGrp="1"/>
          </p:cNvSpPr>
          <p:nvPr/>
        </p:nvSpPr>
        <p:spPr>
          <a:xfrm xmlns:a="http://schemas.openxmlformats.org/drawingml/2006/main">
            <a:off x="1409700" y="3400425"/>
            <a:ext cx="2190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Ministries</a:t>
            </a:r>
          </a:p>
        </p:txBody>
      </p:sp>
      <p:sp>
        <p:nvSpPr>
          <p:cNvPr id="16" name="">
            <a:extLst xmlns:a="http://schemas.openxmlformats.org/drawingml/2006/main">
              <a:ext uri="{FF2B5EF4-FFF2-40B4-BE49-F238E27FC236}">
                <a16:creationId xmlns:a16="http://schemas.microsoft.com/office/drawing/2014/main" id="{B0752313-4A3B-4C65-B448-CC6CC24E2E55}"/>
              </a:ext>
            </a:extLst>
          </p:cNvPr>
          <p:cNvSpPr>
            <a:spLocks xmlns:a="http://schemas.openxmlformats.org/drawingml/2006/main" noGrp="1"/>
          </p:cNvSpPr>
          <p:nvPr/>
        </p:nvSpPr>
        <p:spPr>
          <a:xfrm xmlns:a="http://schemas.openxmlformats.org/drawingml/2006/main">
            <a:off x="933450" y="3943350"/>
            <a:ext cx="323850" cy="323850"/>
          </a:xfrm>
          <a:prstGeom xmlns:a="http://schemas.openxmlformats.org/drawingml/2006/main" prst="ellipse">
            <a:avLst/>
          </a:prstGeom>
          <a:solidFill xmlns:a="http://schemas.openxmlformats.org/drawingml/2006/main">
            <a:srgbClr val="2D6C55"/>
          </a:solidFill>
          <a:ln xmlns:a="http://schemas.openxmlformats.org/drawingml/2006/main">
            <a:solidFill>
              <a:srgbClr val="2D6C55"/>
            </a:solidFill>
          </a:ln>
        </p:spPr>
      </p:sp>
      <p:sp>
        <p:nvSpPr>
          <p:cNvPr id="17" name="">
            <a:extLst xmlns:a="http://schemas.openxmlformats.org/drawingml/2006/main">
              <a:ext uri="{FF2B5EF4-FFF2-40B4-BE49-F238E27FC236}">
                <a16:creationId xmlns:a16="http://schemas.microsoft.com/office/drawing/2014/main" id="{D10854A4-D2FF-4654-A827-5BA5E0ED6248}"/>
              </a:ext>
            </a:extLst>
          </p:cNvPr>
          <p:cNvSpPr>
            <a:spLocks xmlns:a="http://schemas.openxmlformats.org/drawingml/2006/main" noGrp="1"/>
          </p:cNvSpPr>
          <p:nvPr/>
        </p:nvSpPr>
        <p:spPr>
          <a:xfrm xmlns:a="http://schemas.openxmlformats.org/drawingml/2006/main">
            <a:off x="933450" y="3943350"/>
            <a:ext cx="3238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8" name="">
            <a:extLst xmlns:a="http://schemas.openxmlformats.org/drawingml/2006/main">
              <a:ext uri="{FF2B5EF4-FFF2-40B4-BE49-F238E27FC236}">
                <a16:creationId xmlns:a16="http://schemas.microsoft.com/office/drawing/2014/main" id="{0194F455-74E1-4AA2-88B7-14A2BCE4331E}"/>
              </a:ext>
            </a:extLst>
          </p:cNvPr>
          <p:cNvSpPr>
            <a:spLocks xmlns:a="http://schemas.openxmlformats.org/drawingml/2006/main" noGrp="1"/>
          </p:cNvSpPr>
          <p:nvPr/>
        </p:nvSpPr>
        <p:spPr>
          <a:xfrm xmlns:a="http://schemas.openxmlformats.org/drawingml/2006/main">
            <a:off x="1409700" y="3914775"/>
            <a:ext cx="2190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Events</a:t>
            </a:r>
          </a:p>
        </p:txBody>
      </p:sp>
      <p:sp>
        <p:nvSpPr>
          <p:cNvPr id="19" name="">
            <a:extLst xmlns:a="http://schemas.openxmlformats.org/drawingml/2006/main">
              <a:ext uri="{FF2B5EF4-FFF2-40B4-BE49-F238E27FC236}">
                <a16:creationId xmlns:a16="http://schemas.microsoft.com/office/drawing/2014/main" id="{AAE94440-6C6D-4F5A-8108-444A427A4C5D}"/>
              </a:ext>
            </a:extLst>
          </p:cNvPr>
          <p:cNvSpPr>
            <a:spLocks xmlns:a="http://schemas.openxmlformats.org/drawingml/2006/main" noGrp="1"/>
          </p:cNvSpPr>
          <p:nvPr/>
        </p:nvSpPr>
        <p:spPr>
          <a:xfrm xmlns:a="http://schemas.openxmlformats.org/drawingml/2006/main">
            <a:off x="933450" y="4457700"/>
            <a:ext cx="323850" cy="323850"/>
          </a:xfrm>
          <a:prstGeom xmlns:a="http://schemas.openxmlformats.org/drawingml/2006/main" prst="ellipse">
            <a:avLst/>
          </a:prstGeom>
          <a:solidFill xmlns:a="http://schemas.openxmlformats.org/drawingml/2006/main">
            <a:srgbClr val="2D6C55"/>
          </a:solidFill>
          <a:ln xmlns:a="http://schemas.openxmlformats.org/drawingml/2006/main">
            <a:solidFill>
              <a:srgbClr val="2D6C55"/>
            </a:solidFill>
          </a:ln>
        </p:spPr>
      </p:sp>
      <p:sp>
        <p:nvSpPr>
          <p:cNvPr id="20" name="">
            <a:extLst xmlns:a="http://schemas.openxmlformats.org/drawingml/2006/main">
              <a:ext uri="{FF2B5EF4-FFF2-40B4-BE49-F238E27FC236}">
                <a16:creationId xmlns:a16="http://schemas.microsoft.com/office/drawing/2014/main" id="{5E840121-2C65-4FE2-9BFD-ECB5388E696C}"/>
              </a:ext>
            </a:extLst>
          </p:cNvPr>
          <p:cNvSpPr>
            <a:spLocks xmlns:a="http://schemas.openxmlformats.org/drawingml/2006/main" noGrp="1"/>
          </p:cNvSpPr>
          <p:nvPr/>
        </p:nvSpPr>
        <p:spPr>
          <a:xfrm xmlns:a="http://schemas.openxmlformats.org/drawingml/2006/main">
            <a:off x="933450" y="4457700"/>
            <a:ext cx="3238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1" name="">
            <a:extLst xmlns:a="http://schemas.openxmlformats.org/drawingml/2006/main">
              <a:ext uri="{FF2B5EF4-FFF2-40B4-BE49-F238E27FC236}">
                <a16:creationId xmlns:a16="http://schemas.microsoft.com/office/drawing/2014/main" id="{FD433F67-D732-48D1-A42F-3EE8E467CBC2}"/>
              </a:ext>
            </a:extLst>
          </p:cNvPr>
          <p:cNvSpPr>
            <a:spLocks xmlns:a="http://schemas.openxmlformats.org/drawingml/2006/main" noGrp="1"/>
          </p:cNvSpPr>
          <p:nvPr/>
        </p:nvSpPr>
        <p:spPr>
          <a:xfrm xmlns:a="http://schemas.openxmlformats.org/drawingml/2006/main">
            <a:off x="1409700" y="4429125"/>
            <a:ext cx="2190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Giving</a:t>
            </a:r>
          </a:p>
        </p:txBody>
      </p:sp>
      <p:sp>
        <p:nvSpPr>
          <p:cNvPr id="22" name="">
            <a:extLst xmlns:a="http://schemas.openxmlformats.org/drawingml/2006/main">
              <a:ext uri="{FF2B5EF4-FFF2-40B4-BE49-F238E27FC236}">
                <a16:creationId xmlns:a16="http://schemas.microsoft.com/office/drawing/2014/main" id="{1D7CFE17-2E68-4A6E-AB1D-7D62B14ADB7B}"/>
              </a:ext>
            </a:extLst>
          </p:cNvPr>
          <p:cNvSpPr>
            <a:spLocks xmlns:a="http://schemas.openxmlformats.org/drawingml/2006/main" noGrp="1"/>
          </p:cNvSpPr>
          <p:nvPr/>
        </p:nvSpPr>
        <p:spPr>
          <a:xfrm xmlns:a="http://schemas.openxmlformats.org/drawingml/2006/main">
            <a:off x="933450" y="4972050"/>
            <a:ext cx="323850" cy="323850"/>
          </a:xfrm>
          <a:prstGeom xmlns:a="http://schemas.openxmlformats.org/drawingml/2006/main" prst="ellipse">
            <a:avLst/>
          </a:prstGeom>
          <a:solidFill xmlns:a="http://schemas.openxmlformats.org/drawingml/2006/main">
            <a:srgbClr val="2D6C55"/>
          </a:solidFill>
          <a:ln xmlns:a="http://schemas.openxmlformats.org/drawingml/2006/main">
            <a:solidFill>
              <a:srgbClr val="2D6C55"/>
            </a:solidFill>
          </a:ln>
        </p:spPr>
      </p:sp>
      <p:sp>
        <p:nvSpPr>
          <p:cNvPr id="23" name="">
            <a:extLst xmlns:a="http://schemas.openxmlformats.org/drawingml/2006/main">
              <a:ext uri="{FF2B5EF4-FFF2-40B4-BE49-F238E27FC236}">
                <a16:creationId xmlns:a16="http://schemas.microsoft.com/office/drawing/2014/main" id="{04CEAD29-2238-405F-843E-93D7EF8A54CF}"/>
              </a:ext>
            </a:extLst>
          </p:cNvPr>
          <p:cNvSpPr>
            <a:spLocks xmlns:a="http://schemas.openxmlformats.org/drawingml/2006/main" noGrp="1"/>
          </p:cNvSpPr>
          <p:nvPr/>
        </p:nvSpPr>
        <p:spPr>
          <a:xfrm xmlns:a="http://schemas.openxmlformats.org/drawingml/2006/main">
            <a:off x="933450" y="4972050"/>
            <a:ext cx="3238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5</a:t>
            </a:r>
          </a:p>
        </p:txBody>
      </p:sp>
      <p:sp>
        <p:nvSpPr>
          <p:cNvPr id="24" name="">
            <a:extLst xmlns:a="http://schemas.openxmlformats.org/drawingml/2006/main">
              <a:ext uri="{FF2B5EF4-FFF2-40B4-BE49-F238E27FC236}">
                <a16:creationId xmlns:a16="http://schemas.microsoft.com/office/drawing/2014/main" id="{9115BAC2-171C-4CDC-B71A-8F11B46D4B26}"/>
              </a:ext>
            </a:extLst>
          </p:cNvPr>
          <p:cNvSpPr>
            <a:spLocks xmlns:a="http://schemas.openxmlformats.org/drawingml/2006/main" noGrp="1"/>
          </p:cNvSpPr>
          <p:nvPr/>
        </p:nvSpPr>
        <p:spPr>
          <a:xfrm xmlns:a="http://schemas.openxmlformats.org/drawingml/2006/main">
            <a:off x="1409700" y="4943475"/>
            <a:ext cx="21907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Profile</a:t>
            </a:r>
          </a:p>
        </p:txBody>
      </p:sp>
      <p:sp>
        <p:nvSpPr>
          <p:cNvPr id="25" name="">
            <a:extLst xmlns:a="http://schemas.openxmlformats.org/drawingml/2006/main">
              <a:ext uri="{FF2B5EF4-FFF2-40B4-BE49-F238E27FC236}">
                <a16:creationId xmlns:a16="http://schemas.microsoft.com/office/drawing/2014/main" id="{C172B839-1A7F-477B-B21F-C873B1C11E23}"/>
              </a:ext>
            </a:extLst>
          </p:cNvPr>
          <p:cNvSpPr>
            <a:spLocks xmlns:a="http://schemas.openxmlformats.org/drawingml/2006/main" noGrp="1"/>
          </p:cNvSpPr>
          <p:nvPr/>
        </p:nvSpPr>
        <p:spPr>
          <a:xfrm xmlns:a="http://schemas.openxmlformats.org/drawingml/2006/main">
            <a:off x="4953000" y="2133600"/>
            <a:ext cx="6629400" cy="3848100"/>
          </a:xfrm>
          <a:prstGeom xmlns:a="http://schemas.openxmlformats.org/drawingml/2006/main" prst="roundRect">
            <a:avLst>
              <a:gd name="adj" fmla="val 4455"/>
            </a:avLst>
          </a:prstGeom>
          <a:solidFill xmlns:a="http://schemas.openxmlformats.org/drawingml/2006/main">
            <a:srgbClr val="FFFFFF"/>
          </a:solidFill>
          <a:ln xmlns:a="http://schemas.openxmlformats.org/drawingml/2006/main" w="9525">
            <a:solidFill>
              <a:srgbClr val="CBD6CF"/>
            </a:solidFill>
          </a:ln>
        </p:spPr>
      </p:sp>
      <p:sp>
        <p:nvSpPr>
          <p:cNvPr id="26" name="">
            <a:extLst xmlns:a="http://schemas.openxmlformats.org/drawingml/2006/main">
              <a:ext uri="{FF2B5EF4-FFF2-40B4-BE49-F238E27FC236}">
                <a16:creationId xmlns:a16="http://schemas.microsoft.com/office/drawing/2014/main" id="{3C62CB97-6964-4229-884B-C73154FF9DE8}"/>
              </a:ext>
            </a:extLst>
          </p:cNvPr>
          <p:cNvSpPr>
            <a:spLocks xmlns:a="http://schemas.openxmlformats.org/drawingml/2006/main" noGrp="1"/>
          </p:cNvSpPr>
          <p:nvPr/>
        </p:nvSpPr>
        <p:spPr>
          <a:xfrm xmlns:a="http://schemas.openxmlformats.org/drawingml/2006/main">
            <a:off x="5048250" y="2228850"/>
            <a:ext cx="6438900" cy="3657600"/>
          </a:xfrm>
          <a:prstGeom xmlns:a="http://schemas.openxmlformats.org/drawingml/2006/main" prst="roundRect">
            <a:avLst>
              <a:gd name="adj" fmla="val 3125"/>
            </a:avLst>
          </a:prstGeom>
          <a:solidFill xmlns:a="http://schemas.openxmlformats.org/drawingml/2006/main">
            <a:srgbClr val="FFFDFC"/>
          </a:solidFill>
          <a:ln xmlns:a="http://schemas.openxmlformats.org/drawingml/2006/main">
            <a:solidFill>
              <a:srgbClr val="FFFDFC"/>
            </a:solidFill>
          </a:ln>
        </p:spPr>
      </p:sp>
      <p:sp>
        <p:nvSpPr>
          <p:cNvPr id="27" name="">
            <a:extLst xmlns:a="http://schemas.openxmlformats.org/drawingml/2006/main">
              <a:ext uri="{FF2B5EF4-FFF2-40B4-BE49-F238E27FC236}">
                <a16:creationId xmlns:a16="http://schemas.microsoft.com/office/drawing/2014/main" id="{07827B18-4881-4F3B-97D2-1719477CD8C0}"/>
              </a:ext>
            </a:extLst>
          </p:cNvPr>
          <p:cNvSpPr>
            <a:spLocks xmlns:a="http://schemas.openxmlformats.org/drawingml/2006/main" noGrp="1"/>
          </p:cNvSpPr>
          <p:nvPr/>
        </p:nvSpPr>
        <p:spPr>
          <a:xfrm xmlns:a="http://schemas.openxmlformats.org/drawingml/2006/main">
            <a:off x="5124450" y="2305050"/>
            <a:ext cx="1371600" cy="2857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a:solidFill>
              <a:srgbClr val="FFFFFF"/>
            </a:solidFill>
          </a:ln>
        </p:spPr>
      </p:sp>
      <p:sp>
        <p:nvSpPr>
          <p:cNvPr id="28" name="">
            <a:extLst xmlns:a="http://schemas.openxmlformats.org/drawingml/2006/main">
              <a:ext uri="{FF2B5EF4-FFF2-40B4-BE49-F238E27FC236}">
                <a16:creationId xmlns:a16="http://schemas.microsoft.com/office/drawing/2014/main" id="{70FB8972-9576-4521-962F-A601715F6367}"/>
              </a:ext>
            </a:extLst>
          </p:cNvPr>
          <p:cNvSpPr>
            <a:spLocks xmlns:a="http://schemas.openxmlformats.org/drawingml/2006/main" noGrp="1"/>
          </p:cNvSpPr>
          <p:nvPr/>
        </p:nvSpPr>
        <p:spPr>
          <a:xfrm xmlns:a="http://schemas.openxmlformats.org/drawingml/2006/main">
            <a:off x="5124450" y="2305050"/>
            <a:ext cx="1371600" cy="285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SECURE FIRST SIGN-IN</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863dbefda596424c"/>
          <a:srcRect xmlns:a="http://schemas.openxmlformats.org/drawingml/2006/main" l="0" t="9286" r="0" b="9286"/>
          <a:stretch xmlns:a="http://schemas.openxmlformats.org/drawingml/2006/main">
            <a:fillRect l="0" t="0" r="0" b="0"/>
          </a:stretch>
        </p:blipFill>
        <p:spPr>
          <a:xfrm xmlns:a="http://schemas.openxmlformats.org/drawingml/2006/main">
            <a:off x="5067300" y="2247900"/>
            <a:ext cx="6400800" cy="3619500"/>
          </a:xfrm>
          <a:prstGeom xmlns:a="http://schemas.openxmlformats.org/drawingml/2006/main" prst="roundRect">
            <a:avLst>
              <a:gd name="adj" fmla="val 3158"/>
            </a:avLst>
          </a:prstGeom>
        </p:spPr>
      </p:pic>
      <p:sp>
        <p:nvSpPr>
          <p:cNvPr id="30" name="">
            <a:extLst xmlns:a="http://schemas.openxmlformats.org/drawingml/2006/main">
              <a:ext uri="{FF2B5EF4-FFF2-40B4-BE49-F238E27FC236}">
                <a16:creationId xmlns:a16="http://schemas.microsoft.com/office/drawing/2014/main" id="{DB74DB2F-57F7-425A-8C9A-FA876E602AB5}"/>
              </a:ext>
            </a:extLst>
          </p:cNvPr>
          <p:cNvSpPr>
            <a:spLocks xmlns:a="http://schemas.openxmlformats.org/drawingml/2006/main" noGrp="1"/>
          </p:cNvSpPr>
          <p:nvPr/>
        </p:nvSpPr>
        <p:spPr>
          <a:xfrm xmlns:a="http://schemas.openxmlformats.org/drawingml/2006/main">
            <a:off x="6896100" y="4933950"/>
            <a:ext cx="4210050" cy="723900"/>
          </a:xfrm>
          <a:prstGeom xmlns:a="http://schemas.openxmlformats.org/drawingml/2006/main" prst="roundRect">
            <a:avLst>
              <a:gd name="adj" fmla="val 18421"/>
            </a:avLst>
          </a:prstGeom>
          <a:solidFill xmlns:a="http://schemas.openxmlformats.org/drawingml/2006/main">
            <a:srgbClr val="FFFDFC"/>
          </a:solidFill>
          <a:ln xmlns:a="http://schemas.openxmlformats.org/drawingml/2006/main" w="9525">
            <a:solidFill>
              <a:srgbClr val="C69A3B"/>
            </a:solidFill>
          </a:ln>
        </p:spPr>
      </p:sp>
      <p:sp>
        <p:nvSpPr>
          <p:cNvPr id="31" name="">
            <a:extLst xmlns:a="http://schemas.openxmlformats.org/drawingml/2006/main">
              <a:ext uri="{FF2B5EF4-FFF2-40B4-BE49-F238E27FC236}">
                <a16:creationId xmlns:a16="http://schemas.microsoft.com/office/drawing/2014/main" id="{569FC30F-0636-4FE2-A969-32C819A668B6}"/>
              </a:ext>
            </a:extLst>
          </p:cNvPr>
          <p:cNvSpPr>
            <a:spLocks xmlns:a="http://schemas.openxmlformats.org/drawingml/2006/main" noGrp="1"/>
          </p:cNvSpPr>
          <p:nvPr/>
        </p:nvSpPr>
        <p:spPr>
          <a:xfrm xmlns:a="http://schemas.openxmlformats.org/drawingml/2006/main">
            <a:off x="7067550" y="5048250"/>
            <a:ext cx="12192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050" b="1">
                <a:solidFill>
                  <a:srgbClr val="1F5A43"/>
                </a:solidFill>
              </a:defRPr>
            </a:pPr>
            <a:r>
              <a:rPr sz="1050" b="1">
                <a:solidFill>
                  <a:srgbClr val="1F5A43"/>
                </a:solidFill>
              </a:rPr>
              <a:t>First sign-in</a:t>
            </a:r>
          </a:p>
        </p:txBody>
      </p:sp>
      <p:sp>
        <p:nvSpPr>
          <p:cNvPr id="32" name="">
            <a:extLst xmlns:a="http://schemas.openxmlformats.org/drawingml/2006/main">
              <a:ext uri="{FF2B5EF4-FFF2-40B4-BE49-F238E27FC236}">
                <a16:creationId xmlns:a16="http://schemas.microsoft.com/office/drawing/2014/main" id="{8D5502D2-C713-411B-841D-D1F044411E93}"/>
              </a:ext>
            </a:extLst>
          </p:cNvPr>
          <p:cNvSpPr>
            <a:spLocks xmlns:a="http://schemas.openxmlformats.org/drawingml/2006/main" noGrp="1"/>
          </p:cNvSpPr>
          <p:nvPr/>
        </p:nvSpPr>
        <p:spPr>
          <a:xfrm xmlns:a="http://schemas.openxmlformats.org/drawingml/2006/main">
            <a:off x="7067550" y="5276850"/>
            <a:ext cx="3810000" cy="2667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275" b="1">
                <a:solidFill>
                  <a:srgbClr val="16382E"/>
                </a:solidFill>
              </a:defRPr>
            </a:pPr>
            <a:r>
              <a:rPr sz="1275" b="1">
                <a:solidFill>
                  <a:srgbClr val="16382E"/>
                </a:solidFill>
              </a:rPr>
              <a:t>Confirm your password before continuing.</a:t>
            </a:r>
          </a:p>
        </p:txBody>
      </p:sp>
    </p:spTree>
    <p:transition spd="med" advClick="1">
      <p:fade/>
    </p:transition>
    <p:extLst>
      <p:ext uri="{BB962C8B-B14F-4D97-AF65-F5344CB8AC3E}">
        <p14:creationId xmlns:p14="http://schemas.microsoft.com/office/powerpoint/2010/main" val="534198009"/>
      </p:ext>
    </p:extLst>
  </p:cSld>
</p:sld>
</file>

<file path=ppt/slides/slide10.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75C0D3B-7294-4156-9EEA-2EC0B51163A7}"/>
              </a:ext>
            </a:extLst>
          </p:cNvPr>
          <p:cNvSpPr>
            <a:spLocks xmlns:a="http://schemas.openxmlformats.org/drawingml/2006/main" noGrp="1"/>
          </p:cNvSpPr>
          <p:nvPr/>
        </p:nvSpPr>
        <p:spPr>
          <a:xfrm xmlns:a="http://schemas.openxmlformats.org/drawingml/2006/main">
            <a:off x="609600" y="342900"/>
            <a:ext cx="495300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MEMBER TUTORIAL</a:t>
            </a:r>
          </a:p>
        </p:txBody>
      </p:sp>
      <p:sp>
        <p:nvSpPr>
          <p:cNvPr id="2" name="">
            <a:extLst xmlns:a="http://schemas.openxmlformats.org/drawingml/2006/main">
              <a:ext uri="{FF2B5EF4-FFF2-40B4-BE49-F238E27FC236}">
                <a16:creationId xmlns:a16="http://schemas.microsoft.com/office/drawing/2014/main" id="{628F688F-45D0-4234-A0B6-7BBD03764F1A}"/>
              </a:ext>
            </a:extLst>
          </p:cNvPr>
          <p:cNvSpPr>
            <a:spLocks xmlns:a="http://schemas.openxmlformats.org/drawingml/2006/main" noGrp="1"/>
          </p:cNvSpPr>
          <p:nvPr/>
        </p:nvSpPr>
        <p:spPr>
          <a:xfrm xmlns:a="http://schemas.openxmlformats.org/drawingml/2006/main">
            <a:off x="609600" y="638175"/>
            <a:ext cx="419100" cy="38100"/>
          </a:xfrm>
          <a:prstGeom xmlns:a="http://schemas.openxmlformats.org/drawingml/2006/main" prst="rect">
            <a:avLst/>
          </a:prstGeom>
          <a:solidFill xmlns:a="http://schemas.openxmlformats.org/drawingml/2006/main">
            <a:srgbClr val="C69A3B"/>
          </a:solidFill>
          <a:ln xmlns:a="http://schemas.openxmlformats.org/drawingml/2006/main">
            <a:solidFill>
              <a:srgbClr val="C69A3B"/>
            </a:solidFill>
          </a:ln>
        </p:spPr>
      </p:sp>
      <p:sp>
        <p:nvSpPr>
          <p:cNvPr id="3" name="">
            <a:extLst xmlns:a="http://schemas.openxmlformats.org/drawingml/2006/main">
              <a:ext uri="{FF2B5EF4-FFF2-40B4-BE49-F238E27FC236}">
                <a16:creationId xmlns:a16="http://schemas.microsoft.com/office/drawing/2014/main" id="{75D60AE8-9C8C-4588-913B-FBE8A719AEF8}"/>
              </a:ext>
            </a:extLst>
          </p:cNvPr>
          <p:cNvSpPr>
            <a:spLocks xmlns:a="http://schemas.openxmlformats.org/drawingml/2006/main" noGrp="1"/>
          </p:cNvSpPr>
          <p:nvPr/>
        </p:nvSpPr>
        <p:spPr>
          <a:xfrm xmlns:a="http://schemas.openxmlformats.org/drawingml/2006/main">
            <a:off x="609600" y="781050"/>
            <a:ext cx="10572750" cy="6667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2850" b="1">
                <a:solidFill>
                  <a:srgbClr val="16382E"/>
                </a:solidFill>
              </a:defRPr>
            </a:pPr>
            <a:r>
              <a:rPr sz="2850" b="1">
                <a:solidFill>
                  <a:srgbClr val="16382E"/>
                </a:solidFill>
              </a:rPr>
              <a:t>Your first five minutes in the portal</a:t>
            </a:r>
          </a:p>
        </p:txBody>
      </p:sp>
      <p:sp>
        <p:nvSpPr>
          <p:cNvPr id="4" name="">
            <a:extLst xmlns:a="http://schemas.openxmlformats.org/drawingml/2006/main">
              <a:ext uri="{FF2B5EF4-FFF2-40B4-BE49-F238E27FC236}">
                <a16:creationId xmlns:a16="http://schemas.microsoft.com/office/drawing/2014/main" id="{EB82DA9A-9313-40A1-A3D4-7DB8AE9A1980}"/>
              </a:ext>
            </a:extLst>
          </p:cNvPr>
          <p:cNvSpPr>
            <a:spLocks xmlns:a="http://schemas.openxmlformats.org/drawingml/2006/main" noGrp="1"/>
          </p:cNvSpPr>
          <p:nvPr/>
        </p:nvSpPr>
        <p:spPr>
          <a:xfrm xmlns:a="http://schemas.openxmlformats.org/drawingml/2006/main">
            <a:off x="609600" y="1438275"/>
            <a:ext cx="10287000" cy="4381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Start at Home, then follow the area that answers your question.</a:t>
            </a:r>
          </a:p>
        </p:txBody>
      </p:sp>
      <p:sp>
        <p:nvSpPr>
          <p:cNvPr id="5" name="">
            <a:extLst xmlns:a="http://schemas.openxmlformats.org/drawingml/2006/main">
              <a:ext uri="{FF2B5EF4-FFF2-40B4-BE49-F238E27FC236}">
                <a16:creationId xmlns:a16="http://schemas.microsoft.com/office/drawing/2014/main" id="{249A543F-13E3-477E-9911-6B6935448F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BD6CF"/>
          </a:solidFill>
          <a:ln xmlns:a="http://schemas.openxmlformats.org/drawingml/2006/main">
            <a:solidFill>
              <a:srgbClr val="CBD6CF"/>
            </a:solidFill>
          </a:ln>
        </p:spPr>
      </p:sp>
      <p:sp>
        <p:nvSpPr>
          <p:cNvPr id="6" name="">
            <a:extLst xmlns:a="http://schemas.openxmlformats.org/drawingml/2006/main">
              <a:ext uri="{FF2B5EF4-FFF2-40B4-BE49-F238E27FC236}">
                <a16:creationId xmlns:a16="http://schemas.microsoft.com/office/drawing/2014/main" id="{C9999834-D326-4BAC-A37A-2C80A4077CF9}"/>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63736D"/>
                </a:solidFill>
              </a:defRPr>
            </a:pPr>
            <a:r>
              <a:rPr sz="825" b="1">
                <a:solidFill>
                  <a:srgbClr val="63736D"/>
                </a:solidFill>
              </a:rPr>
              <a:t>DEVELOPMENT PREVIEW  ·  MPG CHURCH SYSTEM</a:t>
            </a:r>
          </a:p>
        </p:txBody>
      </p:sp>
      <p:sp>
        <p:nvSpPr>
          <p:cNvPr id="7" name="">
            <a:extLst xmlns:a="http://schemas.openxmlformats.org/drawingml/2006/main">
              <a:ext uri="{FF2B5EF4-FFF2-40B4-BE49-F238E27FC236}">
                <a16:creationId xmlns:a16="http://schemas.microsoft.com/office/drawing/2014/main" id="{80E98104-8E92-41B6-8358-4CC9C4F87A5F}"/>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63736D"/>
                </a:solidFill>
              </a:defRPr>
            </a:pPr>
            <a:r>
              <a:rPr sz="825" b="1">
                <a:solidFill>
                  <a:srgbClr val="63736D"/>
                </a:solidFill>
              </a:rPr>
              <a:t>10</a:t>
            </a:r>
          </a:p>
        </p:txBody>
      </p:sp>
      <p:sp>
        <p:nvSpPr>
          <p:cNvPr id="8" name="">
            <a:extLst xmlns:a="http://schemas.openxmlformats.org/drawingml/2006/main">
              <a:ext uri="{FF2B5EF4-FFF2-40B4-BE49-F238E27FC236}">
                <a16:creationId xmlns:a16="http://schemas.microsoft.com/office/drawing/2014/main" id="{407B4599-F49E-4EB8-913F-B298D9694886}"/>
              </a:ext>
            </a:extLst>
          </p:cNvPr>
          <p:cNvSpPr>
            <a:spLocks xmlns:a="http://schemas.openxmlformats.org/drawingml/2006/main" noGrp="1"/>
          </p:cNvSpPr>
          <p:nvPr/>
        </p:nvSpPr>
        <p:spPr>
          <a:xfrm xmlns:a="http://schemas.openxmlformats.org/drawingml/2006/main">
            <a:off x="1114425" y="2428875"/>
            <a:ext cx="38100" cy="3105150"/>
          </a:xfrm>
          <a:prstGeom xmlns:a="http://schemas.openxmlformats.org/drawingml/2006/main" prst="rect">
            <a:avLst/>
          </a:prstGeom>
          <a:solidFill xmlns:a="http://schemas.openxmlformats.org/drawingml/2006/main">
            <a:srgbClr val="E9D8A8"/>
          </a:solidFill>
          <a:ln xmlns:a="http://schemas.openxmlformats.org/drawingml/2006/main">
            <a:solidFill>
              <a:srgbClr val="E9D8A8"/>
            </a:solidFill>
          </a:ln>
        </p:spPr>
      </p:sp>
      <p:sp>
        <p:nvSpPr>
          <p:cNvPr id="9" name="">
            <a:extLst xmlns:a="http://schemas.openxmlformats.org/drawingml/2006/main">
              <a:ext uri="{FF2B5EF4-FFF2-40B4-BE49-F238E27FC236}">
                <a16:creationId xmlns:a16="http://schemas.microsoft.com/office/drawing/2014/main" id="{EBA57566-E841-4347-BAF8-3C40942F0BFC}"/>
              </a:ext>
            </a:extLst>
          </p:cNvPr>
          <p:cNvSpPr>
            <a:spLocks xmlns:a="http://schemas.openxmlformats.org/drawingml/2006/main" noGrp="1"/>
          </p:cNvSpPr>
          <p:nvPr/>
        </p:nvSpPr>
        <p:spPr>
          <a:xfrm xmlns:a="http://schemas.openxmlformats.org/drawingml/2006/main">
            <a:off x="876300" y="2247900"/>
            <a:ext cx="514350" cy="5143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0" name="">
            <a:extLst xmlns:a="http://schemas.openxmlformats.org/drawingml/2006/main">
              <a:ext uri="{FF2B5EF4-FFF2-40B4-BE49-F238E27FC236}">
                <a16:creationId xmlns:a16="http://schemas.microsoft.com/office/drawing/2014/main" id="{95A6BE7F-7AC2-4A27-AE75-993AD474D093}"/>
              </a:ext>
            </a:extLst>
          </p:cNvPr>
          <p:cNvSpPr>
            <a:spLocks xmlns:a="http://schemas.openxmlformats.org/drawingml/2006/main" noGrp="1"/>
          </p:cNvSpPr>
          <p:nvPr/>
        </p:nvSpPr>
        <p:spPr>
          <a:xfrm xmlns:a="http://schemas.openxmlformats.org/drawingml/2006/main">
            <a:off x="876300" y="2247900"/>
            <a:ext cx="514350" cy="5143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1" name="">
            <a:extLst xmlns:a="http://schemas.openxmlformats.org/drawingml/2006/main">
              <a:ext uri="{FF2B5EF4-FFF2-40B4-BE49-F238E27FC236}">
                <a16:creationId xmlns:a16="http://schemas.microsoft.com/office/drawing/2014/main" id="{B67E0A78-5450-46B5-B58E-61D757F29C50}"/>
              </a:ext>
            </a:extLst>
          </p:cNvPr>
          <p:cNvSpPr>
            <a:spLocks xmlns:a="http://schemas.openxmlformats.org/drawingml/2006/main" noGrp="1"/>
          </p:cNvSpPr>
          <p:nvPr/>
        </p:nvSpPr>
        <p:spPr>
          <a:xfrm xmlns:a="http://schemas.openxmlformats.org/drawingml/2006/main">
            <a:off x="1714500" y="2228850"/>
            <a:ext cx="35242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Sign in</a:t>
            </a:r>
          </a:p>
        </p:txBody>
      </p:sp>
      <p:sp>
        <p:nvSpPr>
          <p:cNvPr id="12" name="">
            <a:extLst xmlns:a="http://schemas.openxmlformats.org/drawingml/2006/main">
              <a:ext uri="{FF2B5EF4-FFF2-40B4-BE49-F238E27FC236}">
                <a16:creationId xmlns:a16="http://schemas.microsoft.com/office/drawing/2014/main" id="{F404D239-806F-4647-88E3-ACBE99763222}"/>
              </a:ext>
            </a:extLst>
          </p:cNvPr>
          <p:cNvSpPr>
            <a:spLocks xmlns:a="http://schemas.openxmlformats.org/drawingml/2006/main" noGrp="1"/>
          </p:cNvSpPr>
          <p:nvPr/>
        </p:nvSpPr>
        <p:spPr>
          <a:xfrm xmlns:a="http://schemas.openxmlformats.org/drawingml/2006/main">
            <a:off x="5238750" y="2228850"/>
            <a:ext cx="567690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Use your individual account.</a:t>
            </a:r>
          </a:p>
        </p:txBody>
      </p:sp>
      <p:sp>
        <p:nvSpPr>
          <p:cNvPr id="13" name="">
            <a:extLst xmlns:a="http://schemas.openxmlformats.org/drawingml/2006/main">
              <a:ext uri="{FF2B5EF4-FFF2-40B4-BE49-F238E27FC236}">
                <a16:creationId xmlns:a16="http://schemas.microsoft.com/office/drawing/2014/main" id="{0AB377D2-F9EE-4E18-840F-F8292573A7FA}"/>
              </a:ext>
            </a:extLst>
          </p:cNvPr>
          <p:cNvSpPr>
            <a:spLocks xmlns:a="http://schemas.openxmlformats.org/drawingml/2006/main" noGrp="1"/>
          </p:cNvSpPr>
          <p:nvPr/>
        </p:nvSpPr>
        <p:spPr>
          <a:xfrm xmlns:a="http://schemas.openxmlformats.org/drawingml/2006/main">
            <a:off x="876300" y="2981325"/>
            <a:ext cx="514350" cy="5143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4" name="">
            <a:extLst xmlns:a="http://schemas.openxmlformats.org/drawingml/2006/main">
              <a:ext uri="{FF2B5EF4-FFF2-40B4-BE49-F238E27FC236}">
                <a16:creationId xmlns:a16="http://schemas.microsoft.com/office/drawing/2014/main" id="{33075B30-B2C0-4DB3-8E4A-AF495E2DAAFC}"/>
              </a:ext>
            </a:extLst>
          </p:cNvPr>
          <p:cNvSpPr>
            <a:spLocks xmlns:a="http://schemas.openxmlformats.org/drawingml/2006/main" noGrp="1"/>
          </p:cNvSpPr>
          <p:nvPr/>
        </p:nvSpPr>
        <p:spPr>
          <a:xfrm xmlns:a="http://schemas.openxmlformats.org/drawingml/2006/main">
            <a:off x="876300" y="2981325"/>
            <a:ext cx="514350" cy="5143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5" name="">
            <a:extLst xmlns:a="http://schemas.openxmlformats.org/drawingml/2006/main">
              <a:ext uri="{FF2B5EF4-FFF2-40B4-BE49-F238E27FC236}">
                <a16:creationId xmlns:a16="http://schemas.microsoft.com/office/drawing/2014/main" id="{FECC818D-89B5-4E0A-B431-0739178D4A21}"/>
              </a:ext>
            </a:extLst>
          </p:cNvPr>
          <p:cNvSpPr>
            <a:spLocks xmlns:a="http://schemas.openxmlformats.org/drawingml/2006/main" noGrp="1"/>
          </p:cNvSpPr>
          <p:nvPr/>
        </p:nvSpPr>
        <p:spPr>
          <a:xfrm xmlns:a="http://schemas.openxmlformats.org/drawingml/2006/main">
            <a:off x="1714500" y="2962275"/>
            <a:ext cx="35242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Open Member Portal</a:t>
            </a:r>
          </a:p>
        </p:txBody>
      </p:sp>
      <p:sp>
        <p:nvSpPr>
          <p:cNvPr id="16" name="">
            <a:extLst xmlns:a="http://schemas.openxmlformats.org/drawingml/2006/main">
              <a:ext uri="{FF2B5EF4-FFF2-40B4-BE49-F238E27FC236}">
                <a16:creationId xmlns:a16="http://schemas.microsoft.com/office/drawing/2014/main" id="{AA2E0A10-8DA2-42D9-B80A-09A50530A241}"/>
              </a:ext>
            </a:extLst>
          </p:cNvPr>
          <p:cNvSpPr>
            <a:spLocks xmlns:a="http://schemas.openxmlformats.org/drawingml/2006/main" noGrp="1"/>
          </p:cNvSpPr>
          <p:nvPr/>
        </p:nvSpPr>
        <p:spPr>
          <a:xfrm xmlns:a="http://schemas.openxmlformats.org/drawingml/2006/main">
            <a:off x="5238750" y="2962275"/>
            <a:ext cx="567690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Select the church context if prompted.</a:t>
            </a:r>
          </a:p>
        </p:txBody>
      </p:sp>
      <p:sp>
        <p:nvSpPr>
          <p:cNvPr id="17" name="">
            <a:extLst xmlns:a="http://schemas.openxmlformats.org/drawingml/2006/main">
              <a:ext uri="{FF2B5EF4-FFF2-40B4-BE49-F238E27FC236}">
                <a16:creationId xmlns:a16="http://schemas.microsoft.com/office/drawing/2014/main" id="{9C18D430-B6B1-4714-AA0B-67B33F5B7759}"/>
              </a:ext>
            </a:extLst>
          </p:cNvPr>
          <p:cNvSpPr>
            <a:spLocks xmlns:a="http://schemas.openxmlformats.org/drawingml/2006/main" noGrp="1"/>
          </p:cNvSpPr>
          <p:nvPr/>
        </p:nvSpPr>
        <p:spPr>
          <a:xfrm xmlns:a="http://schemas.openxmlformats.org/drawingml/2006/main">
            <a:off x="876300" y="3714750"/>
            <a:ext cx="514350" cy="5143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18" name="">
            <a:extLst xmlns:a="http://schemas.openxmlformats.org/drawingml/2006/main">
              <a:ext uri="{FF2B5EF4-FFF2-40B4-BE49-F238E27FC236}">
                <a16:creationId xmlns:a16="http://schemas.microsoft.com/office/drawing/2014/main" id="{C238E580-0F1C-4535-B4F0-D7FA2F25ADBF}"/>
              </a:ext>
            </a:extLst>
          </p:cNvPr>
          <p:cNvSpPr>
            <a:spLocks xmlns:a="http://schemas.openxmlformats.org/drawingml/2006/main" noGrp="1"/>
          </p:cNvSpPr>
          <p:nvPr/>
        </p:nvSpPr>
        <p:spPr>
          <a:xfrm xmlns:a="http://schemas.openxmlformats.org/drawingml/2006/main">
            <a:off x="876300" y="3714750"/>
            <a:ext cx="514350" cy="5143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19" name="">
            <a:extLst xmlns:a="http://schemas.openxmlformats.org/drawingml/2006/main">
              <a:ext uri="{FF2B5EF4-FFF2-40B4-BE49-F238E27FC236}">
                <a16:creationId xmlns:a16="http://schemas.microsoft.com/office/drawing/2014/main" id="{965DFA86-CC33-4860-BBC6-781A3D6B2479}"/>
              </a:ext>
            </a:extLst>
          </p:cNvPr>
          <p:cNvSpPr>
            <a:spLocks xmlns:a="http://schemas.openxmlformats.org/drawingml/2006/main" noGrp="1"/>
          </p:cNvSpPr>
          <p:nvPr/>
        </p:nvSpPr>
        <p:spPr>
          <a:xfrm xmlns:a="http://schemas.openxmlformats.org/drawingml/2006/main">
            <a:off x="1714500" y="3695700"/>
            <a:ext cx="35242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Read the Home snapshot</a:t>
            </a:r>
          </a:p>
        </p:txBody>
      </p:sp>
      <p:sp>
        <p:nvSpPr>
          <p:cNvPr id="20" name="">
            <a:extLst xmlns:a="http://schemas.openxmlformats.org/drawingml/2006/main">
              <a:ext uri="{FF2B5EF4-FFF2-40B4-BE49-F238E27FC236}">
                <a16:creationId xmlns:a16="http://schemas.microsoft.com/office/drawing/2014/main" id="{4714FCE2-76B2-464C-BC98-E70038443489}"/>
              </a:ext>
            </a:extLst>
          </p:cNvPr>
          <p:cNvSpPr>
            <a:spLocks xmlns:a="http://schemas.openxmlformats.org/drawingml/2006/main" noGrp="1"/>
          </p:cNvSpPr>
          <p:nvPr/>
        </p:nvSpPr>
        <p:spPr>
          <a:xfrm xmlns:a="http://schemas.openxmlformats.org/drawingml/2006/main">
            <a:off x="5238750" y="3695700"/>
            <a:ext cx="567690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Check Next Up, membership, and quick access.</a:t>
            </a:r>
          </a:p>
        </p:txBody>
      </p:sp>
      <p:sp>
        <p:nvSpPr>
          <p:cNvPr id="21" name="">
            <a:extLst xmlns:a="http://schemas.openxmlformats.org/drawingml/2006/main">
              <a:ext uri="{FF2B5EF4-FFF2-40B4-BE49-F238E27FC236}">
                <a16:creationId xmlns:a16="http://schemas.microsoft.com/office/drawing/2014/main" id="{842CE3D9-2085-4684-9219-5E2FE8E12D10}"/>
              </a:ext>
            </a:extLst>
          </p:cNvPr>
          <p:cNvSpPr>
            <a:spLocks xmlns:a="http://schemas.openxmlformats.org/drawingml/2006/main" noGrp="1"/>
          </p:cNvSpPr>
          <p:nvPr/>
        </p:nvSpPr>
        <p:spPr>
          <a:xfrm xmlns:a="http://schemas.openxmlformats.org/drawingml/2006/main">
            <a:off x="876300" y="4448175"/>
            <a:ext cx="514350" cy="514350"/>
          </a:xfrm>
          <a:prstGeom xmlns:a="http://schemas.openxmlformats.org/drawingml/2006/main" prst="ellipse">
            <a:avLst/>
          </a:prstGeom>
          <a:solidFill xmlns:a="http://schemas.openxmlformats.org/drawingml/2006/main">
            <a:srgbClr val="1F5A43"/>
          </a:solidFill>
          <a:ln xmlns:a="http://schemas.openxmlformats.org/drawingml/2006/main">
            <a:solidFill>
              <a:srgbClr val="1F5A43"/>
            </a:solidFill>
          </a:ln>
        </p:spPr>
      </p:sp>
      <p:sp>
        <p:nvSpPr>
          <p:cNvPr id="22" name="">
            <a:extLst xmlns:a="http://schemas.openxmlformats.org/drawingml/2006/main">
              <a:ext uri="{FF2B5EF4-FFF2-40B4-BE49-F238E27FC236}">
                <a16:creationId xmlns:a16="http://schemas.microsoft.com/office/drawing/2014/main" id="{6B256A46-C6B4-4AF0-AB96-8261B8ADAED4}"/>
              </a:ext>
            </a:extLst>
          </p:cNvPr>
          <p:cNvSpPr>
            <a:spLocks xmlns:a="http://schemas.openxmlformats.org/drawingml/2006/main" noGrp="1"/>
          </p:cNvSpPr>
          <p:nvPr/>
        </p:nvSpPr>
        <p:spPr>
          <a:xfrm xmlns:a="http://schemas.openxmlformats.org/drawingml/2006/main">
            <a:off x="876300" y="4448175"/>
            <a:ext cx="514350" cy="5143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3" name="">
            <a:extLst xmlns:a="http://schemas.openxmlformats.org/drawingml/2006/main">
              <a:ext uri="{FF2B5EF4-FFF2-40B4-BE49-F238E27FC236}">
                <a16:creationId xmlns:a16="http://schemas.microsoft.com/office/drawing/2014/main" id="{6CDA147C-C313-415E-8702-090D9595C456}"/>
              </a:ext>
            </a:extLst>
          </p:cNvPr>
          <p:cNvSpPr>
            <a:spLocks xmlns:a="http://schemas.openxmlformats.org/drawingml/2006/main" noGrp="1"/>
          </p:cNvSpPr>
          <p:nvPr/>
        </p:nvSpPr>
        <p:spPr>
          <a:xfrm xmlns:a="http://schemas.openxmlformats.org/drawingml/2006/main">
            <a:off x="1714500" y="4429125"/>
            <a:ext cx="35242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Choose one area</a:t>
            </a:r>
          </a:p>
        </p:txBody>
      </p:sp>
      <p:sp>
        <p:nvSpPr>
          <p:cNvPr id="24" name="">
            <a:extLst xmlns:a="http://schemas.openxmlformats.org/drawingml/2006/main">
              <a:ext uri="{FF2B5EF4-FFF2-40B4-BE49-F238E27FC236}">
                <a16:creationId xmlns:a16="http://schemas.microsoft.com/office/drawing/2014/main" id="{3BC36A99-283B-4916-9397-760088FDFE37}"/>
              </a:ext>
            </a:extLst>
          </p:cNvPr>
          <p:cNvSpPr>
            <a:spLocks xmlns:a="http://schemas.openxmlformats.org/drawingml/2006/main" noGrp="1"/>
          </p:cNvSpPr>
          <p:nvPr/>
        </p:nvSpPr>
        <p:spPr>
          <a:xfrm xmlns:a="http://schemas.openxmlformats.org/drawingml/2006/main">
            <a:off x="5238750" y="4429125"/>
            <a:ext cx="567690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Ministries, Events, Giving, or Profile.</a:t>
            </a:r>
          </a:p>
        </p:txBody>
      </p:sp>
      <p:sp>
        <p:nvSpPr>
          <p:cNvPr id="25" name="">
            <a:extLst xmlns:a="http://schemas.openxmlformats.org/drawingml/2006/main">
              <a:ext uri="{FF2B5EF4-FFF2-40B4-BE49-F238E27FC236}">
                <a16:creationId xmlns:a16="http://schemas.microsoft.com/office/drawing/2014/main" id="{0B107FC8-ACC6-45C3-9C6C-96A34C539219}"/>
              </a:ext>
            </a:extLst>
          </p:cNvPr>
          <p:cNvSpPr>
            <a:spLocks xmlns:a="http://schemas.openxmlformats.org/drawingml/2006/main" noGrp="1"/>
          </p:cNvSpPr>
          <p:nvPr/>
        </p:nvSpPr>
        <p:spPr>
          <a:xfrm xmlns:a="http://schemas.openxmlformats.org/drawingml/2006/main">
            <a:off x="876300" y="5181600"/>
            <a:ext cx="514350" cy="5143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sp>
        <p:nvSpPr>
          <p:cNvPr id="26" name="">
            <a:extLst xmlns:a="http://schemas.openxmlformats.org/drawingml/2006/main">
              <a:ext uri="{FF2B5EF4-FFF2-40B4-BE49-F238E27FC236}">
                <a16:creationId xmlns:a16="http://schemas.microsoft.com/office/drawing/2014/main" id="{C8BD11D3-FBDB-4067-A1E8-CEAE5A0F758B}"/>
              </a:ext>
            </a:extLst>
          </p:cNvPr>
          <p:cNvSpPr>
            <a:spLocks xmlns:a="http://schemas.openxmlformats.org/drawingml/2006/main" noGrp="1"/>
          </p:cNvSpPr>
          <p:nvPr/>
        </p:nvSpPr>
        <p:spPr>
          <a:xfrm xmlns:a="http://schemas.openxmlformats.org/drawingml/2006/main">
            <a:off x="876300" y="5181600"/>
            <a:ext cx="514350" cy="5143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5</a:t>
            </a:r>
          </a:p>
        </p:txBody>
      </p:sp>
      <p:sp>
        <p:nvSpPr>
          <p:cNvPr id="27" name="">
            <a:extLst xmlns:a="http://schemas.openxmlformats.org/drawingml/2006/main">
              <a:ext uri="{FF2B5EF4-FFF2-40B4-BE49-F238E27FC236}">
                <a16:creationId xmlns:a16="http://schemas.microsoft.com/office/drawing/2014/main" id="{7EFB72D3-5851-4D6B-BAC4-A762493D3B35}"/>
              </a:ext>
            </a:extLst>
          </p:cNvPr>
          <p:cNvSpPr>
            <a:spLocks xmlns:a="http://schemas.openxmlformats.org/drawingml/2006/main" noGrp="1"/>
          </p:cNvSpPr>
          <p:nvPr/>
        </p:nvSpPr>
        <p:spPr>
          <a:xfrm xmlns:a="http://schemas.openxmlformats.org/drawingml/2006/main">
            <a:off x="1714500" y="5162550"/>
            <a:ext cx="3524250" cy="3238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Review the information</a:t>
            </a:r>
          </a:p>
        </p:txBody>
      </p:sp>
      <p:sp>
        <p:nvSpPr>
          <p:cNvPr id="28" name="">
            <a:extLst xmlns:a="http://schemas.openxmlformats.org/drawingml/2006/main">
              <a:ext uri="{FF2B5EF4-FFF2-40B4-BE49-F238E27FC236}">
                <a16:creationId xmlns:a16="http://schemas.microsoft.com/office/drawing/2014/main" id="{1B1509DA-BB88-4790-8868-2FE83BA36796}"/>
              </a:ext>
            </a:extLst>
          </p:cNvPr>
          <p:cNvSpPr>
            <a:spLocks xmlns:a="http://schemas.openxmlformats.org/drawingml/2006/main" noGrp="1"/>
          </p:cNvSpPr>
          <p:nvPr/>
        </p:nvSpPr>
        <p:spPr>
          <a:xfrm xmlns:a="http://schemas.openxmlformats.org/drawingml/2006/main">
            <a:off x="5238750" y="5162550"/>
            <a:ext cx="5676900" cy="4191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350" b="0">
                <a:solidFill>
                  <a:srgbClr val="63736D"/>
                </a:solidFill>
              </a:defRPr>
            </a:pPr>
            <a:r>
              <a:rPr sz="1350" b="0">
                <a:solidFill>
                  <a:srgbClr val="63736D"/>
                </a:solidFill>
              </a:rPr>
              <a:t>Contact church administration if something needs correction.</a:t>
            </a:r>
          </a:p>
        </p:txBody>
      </p:sp>
      <p:sp>
        <p:nvSpPr>
          <p:cNvPr id="29" name="">
            <a:extLst xmlns:a="http://schemas.openxmlformats.org/drawingml/2006/main">
              <a:ext uri="{FF2B5EF4-FFF2-40B4-BE49-F238E27FC236}">
                <a16:creationId xmlns:a16="http://schemas.microsoft.com/office/drawing/2014/main" id="{98CB9AEE-E9D5-4F67-8BD5-FDE0ACD01D45}"/>
              </a:ext>
            </a:extLst>
          </p:cNvPr>
          <p:cNvSpPr>
            <a:spLocks xmlns:a="http://schemas.openxmlformats.org/drawingml/2006/main" noGrp="1"/>
          </p:cNvSpPr>
          <p:nvPr/>
        </p:nvSpPr>
        <p:spPr>
          <a:xfrm xmlns:a="http://schemas.openxmlformats.org/drawingml/2006/main">
            <a:off x="9191625" y="1676400"/>
            <a:ext cx="685800" cy="304800"/>
          </a:xfrm>
          <a:prstGeom xmlns:a="http://schemas.openxmlformats.org/drawingml/2006/main" prst="roundRect">
            <a:avLst>
              <a:gd name="adj" fmla="val 50000"/>
            </a:avLst>
          </a:prstGeom>
          <a:solidFill xmlns:a="http://schemas.openxmlformats.org/drawingml/2006/main">
            <a:srgbClr val="DDE9DF"/>
          </a:solidFill>
          <a:ln xmlns:a="http://schemas.openxmlformats.org/drawingml/2006/main">
            <a:solidFill>
              <a:srgbClr val="DDE9DF"/>
            </a:solidFill>
          </a:ln>
        </p:spPr>
      </p:sp>
      <p:sp>
        <p:nvSpPr>
          <p:cNvPr id="30" name="">
            <a:extLst xmlns:a="http://schemas.openxmlformats.org/drawingml/2006/main">
              <a:ext uri="{FF2B5EF4-FFF2-40B4-BE49-F238E27FC236}">
                <a16:creationId xmlns:a16="http://schemas.microsoft.com/office/drawing/2014/main" id="{F82A1E39-FC65-4C84-89F3-12F6EE682CBF}"/>
              </a:ext>
            </a:extLst>
          </p:cNvPr>
          <p:cNvSpPr>
            <a:spLocks xmlns:a="http://schemas.openxmlformats.org/drawingml/2006/main" noGrp="1"/>
          </p:cNvSpPr>
          <p:nvPr/>
        </p:nvSpPr>
        <p:spPr>
          <a:xfrm xmlns:a="http://schemas.openxmlformats.org/drawingml/2006/main">
            <a:off x="9191625" y="1676400"/>
            <a:ext cx="6858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HOME</a:t>
            </a:r>
          </a:p>
        </p:txBody>
      </p:sp>
      <p:sp>
        <p:nvSpPr>
          <p:cNvPr id="31" name="">
            <a:extLst xmlns:a="http://schemas.openxmlformats.org/drawingml/2006/main">
              <a:ext uri="{FF2B5EF4-FFF2-40B4-BE49-F238E27FC236}">
                <a16:creationId xmlns:a16="http://schemas.microsoft.com/office/drawing/2014/main" id="{C4B8997F-2DC2-4749-9A31-B9075EEE86C3}"/>
              </a:ext>
            </a:extLst>
          </p:cNvPr>
          <p:cNvSpPr>
            <a:spLocks xmlns:a="http://schemas.openxmlformats.org/drawingml/2006/main" noGrp="1"/>
          </p:cNvSpPr>
          <p:nvPr/>
        </p:nvSpPr>
        <p:spPr>
          <a:xfrm xmlns:a="http://schemas.openxmlformats.org/drawingml/2006/main">
            <a:off x="9963150" y="1676400"/>
            <a:ext cx="1028700" cy="304800"/>
          </a:xfrm>
          <a:prstGeom xmlns:a="http://schemas.openxmlformats.org/drawingml/2006/main" prst="roundRect">
            <a:avLst>
              <a:gd name="adj" fmla="val 50000"/>
            </a:avLst>
          </a:prstGeom>
          <a:solidFill xmlns:a="http://schemas.openxmlformats.org/drawingml/2006/main">
            <a:srgbClr val="DDE9DF"/>
          </a:solidFill>
          <a:ln xmlns:a="http://schemas.openxmlformats.org/drawingml/2006/main">
            <a:solidFill>
              <a:srgbClr val="DDE9DF"/>
            </a:solidFill>
          </a:ln>
        </p:spPr>
      </p:sp>
      <p:sp>
        <p:nvSpPr>
          <p:cNvPr id="32" name="">
            <a:extLst xmlns:a="http://schemas.openxmlformats.org/drawingml/2006/main">
              <a:ext uri="{FF2B5EF4-FFF2-40B4-BE49-F238E27FC236}">
                <a16:creationId xmlns:a16="http://schemas.microsoft.com/office/drawing/2014/main" id="{5A791E75-6220-4123-AF08-F85945AF1AB5}"/>
              </a:ext>
            </a:extLst>
          </p:cNvPr>
          <p:cNvSpPr>
            <a:spLocks xmlns:a="http://schemas.openxmlformats.org/drawingml/2006/main" noGrp="1"/>
          </p:cNvSpPr>
          <p:nvPr/>
        </p:nvSpPr>
        <p:spPr>
          <a:xfrm xmlns:a="http://schemas.openxmlformats.org/drawingml/2006/main">
            <a:off x="9963150" y="1676400"/>
            <a:ext cx="1028700" cy="3048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defRPr sz="900" b="1">
                <a:solidFill>
                  <a:srgbClr val="1F5A43"/>
                </a:solidFill>
              </a:defRPr>
            </a:pPr>
            <a:r>
              <a:rPr sz="900" b="1">
                <a:solidFill>
                  <a:srgbClr val="1F5A43"/>
                </a:solidFill>
              </a:rPr>
              <a:t>MINISTRIES</a:t>
            </a:r>
          </a:p>
        </p:txBody>
      </p:sp>
    </p:spTree>
    <p:transition spd="med" advClick="1">
      <p:fade/>
    </p:transition>
    <p:extLst>
      <p:ext uri="{BB962C8B-B14F-4D97-AF65-F5344CB8AC3E}">
        <p14:creationId xmlns:p14="http://schemas.microsoft.com/office/powerpoint/2010/main" val="1237521729"/>
      </p:ext>
    </p:extLst>
  </p:cSld>
</p:sld>
</file>

<file path=ppt/slides/slide11.xml><?xml version="1.0" encoding="utf-8"?>
<p:sld xmlns:p="http://schemas.openxmlformats.org/presentationml/2006/main">
  <p:cSld>
    <p:bg>
      <p:bgPr>
        <a:solidFill xmlns:a="http://schemas.openxmlformats.org/drawingml/2006/main">
          <a:srgbClr val="0E443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B0F954B-F999-4085-8913-06EC4206EDC3}"/>
              </a:ext>
            </a:extLst>
          </p:cNvPr>
          <p:cNvSpPr>
            <a:spLocks xmlns:a="http://schemas.openxmlformats.org/drawingml/2006/main" noGrp="1"/>
          </p:cNvSpPr>
          <p:nvPr/>
        </p:nvSpPr>
        <p:spPr>
          <a:xfrm xmlns:a="http://schemas.openxmlformats.org/drawingml/2006/main">
            <a:off x="10001250" y="0"/>
            <a:ext cx="2190750" cy="2190750"/>
          </a:xfrm>
          <a:prstGeom xmlns:a="http://schemas.openxmlformats.org/drawingml/2006/main" prst="ellipse">
            <a:avLst/>
          </a:prstGeom>
          <a:solidFill xmlns:a="http://schemas.openxmlformats.org/drawingml/2006/main">
            <a:srgbClr val="C69A3B"/>
          </a:solidFill>
          <a:ln xmlns:a="http://schemas.openxmlformats.org/drawingml/2006/main">
            <a:solidFill>
              <a:srgbClr val="C69A3B"/>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78b3e5a881b4322"/>
          <a:stretch xmlns:a="http://schemas.openxmlformats.org/drawingml/2006/main"/>
        </p:blipFill>
        <p:spPr>
          <a:xfrm xmlns:a="http://schemas.openxmlformats.org/drawingml/2006/main">
            <a:off x="628650" y="476250"/>
            <a:ext cx="590550" cy="590550"/>
          </a:xfrm>
          <a:prstGeom xmlns:a="http://schemas.openxmlformats.org/drawingml/2006/main" prst="roundRect">
            <a:avLst>
              <a:gd name="adj" fmla="val 22581"/>
            </a:avLst>
          </a:prstGeom>
        </p:spPr>
      </p:pic>
      <p:sp>
        <p:nvSpPr>
          <p:cNvPr id="3" name="">
            <a:extLst xmlns:a="http://schemas.openxmlformats.org/drawingml/2006/main">
              <a:ext uri="{FF2B5EF4-FFF2-40B4-BE49-F238E27FC236}">
                <a16:creationId xmlns:a16="http://schemas.microsoft.com/office/drawing/2014/main" id="{C6773122-9CA6-42E0-9CDF-92C2739C8E51}"/>
              </a:ext>
            </a:extLst>
          </p:cNvPr>
          <p:cNvSpPr>
            <a:spLocks xmlns:a="http://schemas.openxmlformats.org/drawingml/2006/main" noGrp="1"/>
          </p:cNvSpPr>
          <p:nvPr/>
        </p:nvSpPr>
        <p:spPr>
          <a:xfrm xmlns:a="http://schemas.openxmlformats.org/drawingml/2006/main">
            <a:off x="1428750" y="638175"/>
            <a:ext cx="247650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DEVELOPMENT PREVIEW</a:t>
            </a:r>
          </a:p>
        </p:txBody>
      </p:sp>
      <p:sp>
        <p:nvSpPr>
          <p:cNvPr id="4" name="">
            <a:extLst xmlns:a="http://schemas.openxmlformats.org/drawingml/2006/main">
              <a:ext uri="{FF2B5EF4-FFF2-40B4-BE49-F238E27FC236}">
                <a16:creationId xmlns:a16="http://schemas.microsoft.com/office/drawing/2014/main" id="{6315FEB4-C451-40A5-9D61-A4475D107CC9}"/>
              </a:ext>
            </a:extLst>
          </p:cNvPr>
          <p:cNvSpPr>
            <a:spLocks xmlns:a="http://schemas.openxmlformats.org/drawingml/2006/main" noGrp="1"/>
          </p:cNvSpPr>
          <p:nvPr/>
        </p:nvSpPr>
        <p:spPr>
          <a:xfrm xmlns:a="http://schemas.openxmlformats.org/drawingml/2006/main">
            <a:off x="628650" y="1485900"/>
            <a:ext cx="8572500" cy="11620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3450" b="1">
                <a:solidFill>
                  <a:srgbClr val="FFFFFF"/>
                </a:solidFill>
              </a:defRPr>
            </a:pPr>
            <a:r>
              <a:rPr sz="3450" b="1">
                <a:solidFill>
                  <a:srgbClr val="FFFFFF"/>
                </a:solidFill>
              </a:rPr>
              <a:t>The right workspace</a:t>
            </a:r>
          </a:p>
          <a:p xmlns:a="http://schemas.openxmlformats.org/drawingml/2006/main">
            <a:pPr algn="l">
              <a:defRPr sz="3450" b="1">
                <a:solidFill>
                  <a:srgbClr val="FFFFFF"/>
                </a:solidFill>
              </a:defRPr>
            </a:pPr>
            <a:r>
              <a:rPr sz="3450" b="1">
                <a:solidFill>
                  <a:srgbClr val="FFFFFF"/>
                </a:solidFill>
              </a:rPr>
              <a:t>for the right responsibility</a:t>
            </a:r>
          </a:p>
        </p:txBody>
      </p:sp>
      <p:sp>
        <p:nvSpPr>
          <p:cNvPr id="5" name="">
            <a:extLst xmlns:a="http://schemas.openxmlformats.org/drawingml/2006/main">
              <a:ext uri="{FF2B5EF4-FFF2-40B4-BE49-F238E27FC236}">
                <a16:creationId xmlns:a16="http://schemas.microsoft.com/office/drawing/2014/main" id="{0B78C549-BB92-427E-8E52-D6FC3A1B5BBC}"/>
              </a:ext>
            </a:extLst>
          </p:cNvPr>
          <p:cNvSpPr>
            <a:spLocks xmlns:a="http://schemas.openxmlformats.org/drawingml/2006/main" noGrp="1"/>
          </p:cNvSpPr>
          <p:nvPr/>
        </p:nvSpPr>
        <p:spPr>
          <a:xfrm xmlns:a="http://schemas.openxmlformats.org/drawingml/2006/main">
            <a:off x="628650" y="2990850"/>
            <a:ext cx="10934700" cy="9525"/>
          </a:xfrm>
          <a:prstGeom xmlns:a="http://schemas.openxmlformats.org/drawingml/2006/main" prst="rect">
            <a:avLst/>
          </a:prstGeom>
          <a:solidFill xmlns:a="http://schemas.openxmlformats.org/drawingml/2006/main">
            <a:srgbClr val="497363"/>
          </a:solidFill>
          <a:ln xmlns:a="http://schemas.openxmlformats.org/drawingml/2006/main">
            <a:solidFill>
              <a:srgbClr val="497363"/>
            </a:solidFill>
          </a:ln>
        </p:spPr>
      </p:sp>
      <p:sp>
        <p:nvSpPr>
          <p:cNvPr id="6" name="">
            <a:extLst xmlns:a="http://schemas.openxmlformats.org/drawingml/2006/main">
              <a:ext uri="{FF2B5EF4-FFF2-40B4-BE49-F238E27FC236}">
                <a16:creationId xmlns:a16="http://schemas.microsoft.com/office/drawing/2014/main" id="{B2F5F052-C87E-4318-9A2D-F8C65D1C0805}"/>
              </a:ext>
            </a:extLst>
          </p:cNvPr>
          <p:cNvSpPr>
            <a:spLocks xmlns:a="http://schemas.openxmlformats.org/drawingml/2006/main" noGrp="1"/>
          </p:cNvSpPr>
          <p:nvPr/>
        </p:nvSpPr>
        <p:spPr>
          <a:xfrm xmlns:a="http://schemas.openxmlformats.org/drawingml/2006/main">
            <a:off x="666750" y="3333750"/>
            <a:ext cx="266700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CHURCH WORKERS</a:t>
            </a:r>
          </a:p>
        </p:txBody>
      </p:sp>
      <p:sp>
        <p:nvSpPr>
          <p:cNvPr id="7" name="">
            <a:extLst xmlns:a="http://schemas.openxmlformats.org/drawingml/2006/main">
              <a:ext uri="{FF2B5EF4-FFF2-40B4-BE49-F238E27FC236}">
                <a16:creationId xmlns:a16="http://schemas.microsoft.com/office/drawing/2014/main" id="{F53FE713-5E78-4267-9242-4A871173FCFB}"/>
              </a:ext>
            </a:extLst>
          </p:cNvPr>
          <p:cNvSpPr>
            <a:spLocks xmlns:a="http://schemas.openxmlformats.org/drawingml/2006/main" noGrp="1"/>
          </p:cNvSpPr>
          <p:nvPr/>
        </p:nvSpPr>
        <p:spPr>
          <a:xfrm xmlns:a="http://schemas.openxmlformats.org/drawingml/2006/main">
            <a:off x="666750" y="3733800"/>
            <a:ext cx="4762500" cy="933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0">
                <a:solidFill>
                  <a:srgbClr val="E4ECE8"/>
                </a:solidFill>
              </a:defRPr>
            </a:pPr>
            <a:r>
              <a:rPr sz="1725" b="0">
                <a:solidFill>
                  <a:srgbClr val="E4ECE8"/>
                </a:solidFill>
              </a:rPr>
              <a:t>Use Administration to coordinate people, ministries, events, stewardship, approvals, access, and reports.</a:t>
            </a:r>
          </a:p>
        </p:txBody>
      </p:sp>
      <p:sp>
        <p:nvSpPr>
          <p:cNvPr id="8" name="">
            <a:extLst xmlns:a="http://schemas.openxmlformats.org/drawingml/2006/main">
              <a:ext uri="{FF2B5EF4-FFF2-40B4-BE49-F238E27FC236}">
                <a16:creationId xmlns:a16="http://schemas.microsoft.com/office/drawing/2014/main" id="{8AE1AE93-A7B5-46C1-9ADF-681EF6CCE371}"/>
              </a:ext>
            </a:extLst>
          </p:cNvPr>
          <p:cNvSpPr>
            <a:spLocks xmlns:a="http://schemas.openxmlformats.org/drawingml/2006/main" noGrp="1"/>
          </p:cNvSpPr>
          <p:nvPr/>
        </p:nvSpPr>
        <p:spPr>
          <a:xfrm xmlns:a="http://schemas.openxmlformats.org/drawingml/2006/main">
            <a:off x="6515100" y="3333750"/>
            <a:ext cx="2667000" cy="2476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E9D8A8"/>
                </a:solidFill>
              </a:defRPr>
            </a:pPr>
            <a:r>
              <a:rPr sz="975" b="1">
                <a:solidFill>
                  <a:srgbClr val="E9D8A8"/>
                </a:solidFill>
              </a:rPr>
              <a:t>MEMBERS</a:t>
            </a:r>
          </a:p>
        </p:txBody>
      </p:sp>
      <p:sp>
        <p:nvSpPr>
          <p:cNvPr id="9" name="">
            <a:extLst xmlns:a="http://schemas.openxmlformats.org/drawingml/2006/main">
              <a:ext uri="{FF2B5EF4-FFF2-40B4-BE49-F238E27FC236}">
                <a16:creationId xmlns:a16="http://schemas.microsoft.com/office/drawing/2014/main" id="{E0A6423E-1583-4837-A17F-9986D4B4859B}"/>
              </a:ext>
            </a:extLst>
          </p:cNvPr>
          <p:cNvSpPr>
            <a:spLocks xmlns:a="http://schemas.openxmlformats.org/drawingml/2006/main" noGrp="1"/>
          </p:cNvSpPr>
          <p:nvPr/>
        </p:nvSpPr>
        <p:spPr>
          <a:xfrm xmlns:a="http://schemas.openxmlformats.org/drawingml/2006/main">
            <a:off x="6515100" y="3733800"/>
            <a:ext cx="4762500" cy="9334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0">
                <a:solidFill>
                  <a:srgbClr val="E4ECE8"/>
                </a:solidFill>
              </a:defRPr>
            </a:pPr>
            <a:r>
              <a:rPr sz="1725" b="0">
                <a:solidFill>
                  <a:srgbClr val="E4ECE8"/>
                </a:solidFill>
              </a:rPr>
              <a:t>Use the Member Portal to stay connected through Home, Ministries, Events, Giving, and Profile.</a:t>
            </a:r>
          </a:p>
        </p:txBody>
      </p:sp>
      <p:sp>
        <p:nvSpPr>
          <p:cNvPr id="10" name="">
            <a:extLst xmlns:a="http://schemas.openxmlformats.org/drawingml/2006/main">
              <a:ext uri="{FF2B5EF4-FFF2-40B4-BE49-F238E27FC236}">
                <a16:creationId xmlns:a16="http://schemas.microsoft.com/office/drawing/2014/main" id="{E97E7691-0A3D-4350-8FD9-7700612E33E4}"/>
              </a:ext>
            </a:extLst>
          </p:cNvPr>
          <p:cNvSpPr>
            <a:spLocks xmlns:a="http://schemas.openxmlformats.org/drawingml/2006/main" noGrp="1"/>
          </p:cNvSpPr>
          <p:nvPr/>
        </p:nvSpPr>
        <p:spPr>
          <a:xfrm xmlns:a="http://schemas.openxmlformats.org/drawingml/2006/main">
            <a:off x="628650" y="5181600"/>
            <a:ext cx="10648950" cy="838200"/>
          </a:xfrm>
          <a:prstGeom xmlns:a="http://schemas.openxmlformats.org/drawingml/2006/main" prst="roundRect">
            <a:avLst>
              <a:gd name="adj" fmla="val 20455"/>
            </a:avLst>
          </a:prstGeom>
          <a:solidFill xmlns:a="http://schemas.openxmlformats.org/drawingml/2006/main">
            <a:srgbClr val="FFFFFF"/>
          </a:solidFill>
          <a:ln xmlns:a="http://schemas.openxmlformats.org/drawingml/2006/main">
            <a:solidFill>
              <a:srgbClr val="FFFFFF"/>
            </a:solidFill>
          </a:ln>
        </p:spPr>
      </p:sp>
      <p:sp>
        <p:nvSpPr>
          <p:cNvPr id="11" name="">
            <a:extLst xmlns:a="http://schemas.openxmlformats.org/drawingml/2006/main">
              <a:ext uri="{FF2B5EF4-FFF2-40B4-BE49-F238E27FC236}">
                <a16:creationId xmlns:a16="http://schemas.microsoft.com/office/drawing/2014/main" id="{DF3DD1CF-CF88-47E6-8782-37CF95BA59BB}"/>
              </a:ext>
            </a:extLst>
          </p:cNvPr>
          <p:cNvSpPr>
            <a:spLocks xmlns:a="http://schemas.openxmlformats.org/drawingml/2006/main" noGrp="1"/>
          </p:cNvSpPr>
          <p:nvPr/>
        </p:nvSpPr>
        <p:spPr>
          <a:xfrm xmlns:a="http://schemas.openxmlformats.org/drawingml/2006/main">
            <a:off x="876300" y="5362575"/>
            <a:ext cx="1428750" cy="2286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975" b="1">
                <a:solidFill>
                  <a:srgbClr val="1F5A43"/>
                </a:solidFill>
              </a:defRPr>
            </a:pPr>
            <a:r>
              <a:rPr sz="975" b="1">
                <a:solidFill>
                  <a:srgbClr val="1F5A43"/>
                </a:solidFill>
              </a:rPr>
              <a:t>NEXT STEP</a:t>
            </a:r>
          </a:p>
        </p:txBody>
      </p:sp>
      <p:sp>
        <p:nvSpPr>
          <p:cNvPr id="12" name="">
            <a:extLst xmlns:a="http://schemas.openxmlformats.org/drawingml/2006/main">
              <a:ext uri="{FF2B5EF4-FFF2-40B4-BE49-F238E27FC236}">
                <a16:creationId xmlns:a16="http://schemas.microsoft.com/office/drawing/2014/main" id="{0E443E2D-8172-4DFB-ACBE-9588EDDB9413}"/>
              </a:ext>
            </a:extLst>
          </p:cNvPr>
          <p:cNvSpPr>
            <a:spLocks xmlns:a="http://schemas.openxmlformats.org/drawingml/2006/main" noGrp="1"/>
          </p:cNvSpPr>
          <p:nvPr/>
        </p:nvSpPr>
        <p:spPr>
          <a:xfrm xmlns:a="http://schemas.openxmlformats.org/drawingml/2006/main">
            <a:off x="2381250" y="5286375"/>
            <a:ext cx="8477250" cy="38100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1725" b="1">
                <a:solidFill>
                  <a:srgbClr val="16382E"/>
                </a:solidFill>
              </a:defRPr>
            </a:pPr>
            <a:r>
              <a:rPr sz="1725" b="1">
                <a:solidFill>
                  <a:srgbClr val="16382E"/>
                </a:solidFill>
              </a:rPr>
              <a:t>Run a guided sign-in and complete one real task in each workspace.</a:t>
            </a:r>
          </a:p>
        </p:txBody>
      </p:sp>
      <p:sp>
        <p:nvSpPr>
          <p:cNvPr id="13" name="">
            <a:extLst xmlns:a="http://schemas.openxmlformats.org/drawingml/2006/main">
              <a:ext uri="{FF2B5EF4-FFF2-40B4-BE49-F238E27FC236}">
                <a16:creationId xmlns:a16="http://schemas.microsoft.com/office/drawing/2014/main" id="{F8E14829-ED4C-49AC-A9EF-2D24C881B6B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77161"/>
          </a:solidFill>
          <a:ln xmlns:a="http://schemas.openxmlformats.org/drawingml/2006/main">
            <a:solidFill>
              <a:srgbClr val="477161"/>
            </a:solidFill>
          </a:ln>
        </p:spPr>
      </p:sp>
      <p:sp>
        <p:nvSpPr>
          <p:cNvPr id="14" name="">
            <a:extLst xmlns:a="http://schemas.openxmlformats.org/drawingml/2006/main">
              <a:ext uri="{FF2B5EF4-FFF2-40B4-BE49-F238E27FC236}">
                <a16:creationId xmlns:a16="http://schemas.microsoft.com/office/drawing/2014/main" id="{79A83241-4A55-442D-B117-DA8F362974AA}"/>
              </a:ext>
            </a:extLst>
          </p:cNvPr>
          <p:cNvSpPr>
            <a:spLocks xmlns:a="http://schemas.openxmlformats.org/drawingml/2006/main" noGrp="1"/>
          </p:cNvSpPr>
          <p:nvPr/>
        </p:nvSpPr>
        <p:spPr>
          <a:xfrm xmlns:a="http://schemas.openxmlformats.org/drawingml/2006/main">
            <a:off x="609600" y="6486525"/>
            <a:ext cx="533400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l">
              <a:defRPr sz="825" b="1">
                <a:solidFill>
                  <a:srgbClr val="D5E1DB"/>
                </a:solidFill>
              </a:defRPr>
            </a:pPr>
            <a:r>
              <a:rPr sz="825" b="1">
                <a:solidFill>
                  <a:srgbClr val="D5E1DB"/>
                </a:solidFill>
              </a:rPr>
              <a:t>DEVELOPMENT PREVIEW  ·  MPG CHURCH SYSTEM</a:t>
            </a:r>
          </a:p>
        </p:txBody>
      </p:sp>
      <p:sp>
        <p:nvSpPr>
          <p:cNvPr id="15" name="">
            <a:extLst xmlns:a="http://schemas.openxmlformats.org/drawingml/2006/main">
              <a:ext uri="{FF2B5EF4-FFF2-40B4-BE49-F238E27FC236}">
                <a16:creationId xmlns:a16="http://schemas.microsoft.com/office/drawing/2014/main" id="{0C5E1B03-0E60-43D7-A9CA-53FCB7FBF5E6}"/>
              </a:ext>
            </a:extLst>
          </p:cNvPr>
          <p:cNvSpPr>
            <a:spLocks xmlns:a="http://schemas.openxmlformats.org/drawingml/2006/main" noGrp="1"/>
          </p:cNvSpPr>
          <p:nvPr/>
        </p:nvSpPr>
        <p:spPr>
          <a:xfrm xmlns:a="http://schemas.openxmlformats.org/drawingml/2006/main">
            <a:off x="11144250" y="6486525"/>
            <a:ext cx="438150" cy="209550"/>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r">
              <a:defRPr sz="825" b="1">
                <a:solidFill>
                  <a:srgbClr val="D5E1DB"/>
                </a:solidFill>
              </a:defRPr>
            </a:pPr>
            <a:r>
              <a:rPr sz="825" b="1">
                <a:solidFill>
                  <a:srgbClr val="D5E1DB"/>
                </a:solidFill>
              </a:rPr>
              <a:t>11</a:t>
            </a:r>
          </a:p>
        </p:txBody>
      </p:sp>
    </p:spTree>
    <p:transition spd="med" advClick="1">
      <p:fade/>
    </p:transition>
    <p:extLst>
      <p:ext uri="{BB962C8B-B14F-4D97-AF65-F5344CB8AC3E}">
        <p14:creationId xmlns:p14="http://schemas.microsoft.com/office/powerpoint/2010/main" val="7949176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2026-08-14T23:36:53.0340000Z</dcterms:created>
  <dcterms:modified xsi:type="dcterms:W3CDTF">2026-08-14T23:36:53.0340000Z</dcterms:modified>
</coreProperties>
</file>